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  <p:embeddedFont>
      <p:font typeface="Palatino Linotype"/>
      <p:regular r:id="rId46"/>
      <p:bold r:id="rId47"/>
      <p:italic r:id="rId48"/>
      <p:boldItalic r:id="rId49"/>
    </p:embeddedFont>
    <p:embeddedFont>
      <p:font typeface="Century Gothic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Roboto-regular.fntdata"/><Relationship Id="rId41" Type="http://schemas.openxmlformats.org/officeDocument/2006/relationships/slide" Target="slides/slide35.xml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PalatinoLinotype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PalatinoLinotype-italic.fntdata"/><Relationship Id="rId47" Type="http://schemas.openxmlformats.org/officeDocument/2006/relationships/font" Target="fonts/PalatinoLinotype-bold.fntdata"/><Relationship Id="rId49" Type="http://schemas.openxmlformats.org/officeDocument/2006/relationships/font" Target="fonts/PalatinoLinotype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enturyGothic-bold.fntdata"/><Relationship Id="rId50" Type="http://schemas.openxmlformats.org/officeDocument/2006/relationships/font" Target="fonts/CenturyGothic-regular.fntdata"/><Relationship Id="rId53" Type="http://schemas.openxmlformats.org/officeDocument/2006/relationships/font" Target="fonts/CenturyGothic-boldItalic.fntdata"/><Relationship Id="rId52" Type="http://schemas.openxmlformats.org/officeDocument/2006/relationships/font" Target="fonts/CenturyGothic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0eeed5033_1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2e0eeed5033_1_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2e0eeed5033_1_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0eeed5033_1_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2e0eeed5033_1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11ce492cf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11ce492cf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0eeed5033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0eeed5033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11ce492c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11ce492c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e0eeed5033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e0eeed5033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11ce492cf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11ce492cf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e0eeed5033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e0eeed5033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0de120dd5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0de120dd5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0de05e850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0de05e850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0df13ec81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0df13ec81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0de157848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0de157848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e0eeed5033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e0eeed5033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0de05e850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0de05e850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0de120dd5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0de120dd5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0de120dd5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0de120dd5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0df13ec8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0df13ec8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0de120dd5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0de120dd5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0de120dd5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0de120dd5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0de120dd5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0de120dd5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e190c400a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e190c400a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0de157848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0de157848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0df13ec81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0df13ec81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0df13ec811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0df13ec811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0df13ec811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0df13ec811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0df13ec811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0df13ec811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0df13ec811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0df13ec811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0df13ec811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0df13ec811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0df2dac9b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20df2dac9b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0df13ec811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0df13ec811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0df13ec81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0df13ec81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0df13ec81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0df13ec81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e0eeed5033_1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2e0eeed5033_1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e0eeed5033_1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e0eeed5033_1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e0eeed5033_1_3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2e0eeed5033_1_3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0" y="4656671"/>
            <a:ext cx="9144000" cy="486829"/>
            <a:chOff x="0" y="6208894"/>
            <a:chExt cx="12192000" cy="649106"/>
          </a:xfrm>
        </p:grpSpPr>
        <p:sp>
          <p:nvSpPr>
            <p:cNvPr id="66" name="Google Shape;66;p14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gradFill>
              <a:gsLst>
                <a:gs pos="0">
                  <a:srgbClr val="DCE5A3"/>
                </a:gs>
                <a:gs pos="50000">
                  <a:srgbClr val="D6E095"/>
                </a:gs>
                <a:gs pos="100000">
                  <a:srgbClr val="D4DF8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cxnSp>
          <p:nvCxnSpPr>
            <p:cNvPr id="67" name="Google Shape;67;p14"/>
            <p:cNvCxnSpPr/>
            <p:nvPr/>
          </p:nvCxnSpPr>
          <p:spPr>
            <a:xfrm>
              <a:off x="0" y="6208894"/>
              <a:ext cx="12192000" cy="0"/>
            </a:xfrm>
            <a:prstGeom prst="straightConnector1">
              <a:avLst/>
            </a:prstGeom>
            <a:noFill/>
            <a:ln cap="flat" cmpd="sng" w="127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68" name="Google Shape;68;p14"/>
          <p:cNvCxnSpPr/>
          <p:nvPr/>
        </p:nvCxnSpPr>
        <p:spPr>
          <a:xfrm flipH="1" rot="10800000">
            <a:off x="2286" y="4453467"/>
            <a:ext cx="6181" cy="42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" name="Google Shape;69;p14"/>
          <p:cNvCxnSpPr/>
          <p:nvPr/>
        </p:nvCxnSpPr>
        <p:spPr>
          <a:xfrm flipH="1" rot="10800000">
            <a:off x="2286" y="4453467"/>
            <a:ext cx="6181" cy="423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14"/>
          <p:cNvSpPr txBox="1"/>
          <p:nvPr>
            <p:ph type="ctrTitle"/>
          </p:nvPr>
        </p:nvSpPr>
        <p:spPr>
          <a:xfrm>
            <a:off x="533400" y="1028700"/>
            <a:ext cx="78516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370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entury Gothic"/>
              <a:buNone/>
              <a:defRPr b="1" sz="42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533400" y="2421402"/>
            <a:ext cx="7854696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13700" wrap="square" tIns="34275">
            <a:normAutofit/>
          </a:bodyPr>
          <a:lstStyle>
            <a:lvl1pPr lvl="0" marR="38100" algn="r">
              <a:spcBef>
                <a:spcPts val="400"/>
              </a:spcBef>
              <a:spcAft>
                <a:spcPts val="0"/>
              </a:spcAft>
              <a:buSzPts val="19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9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9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9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57200" y="145161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algn="l">
              <a:spcBef>
                <a:spcPts val="300"/>
              </a:spcBef>
              <a:spcAft>
                <a:spcPts val="0"/>
              </a:spcAft>
              <a:buSzPts val="13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85750" lvl="2" marL="13716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3pPr>
            <a:lvl4pPr indent="-285750" lvl="3" marL="18288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57200" y="1440064"/>
            <a:ext cx="4038600" cy="33261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9250" lvl="0" marL="457200" algn="l">
              <a:spcBef>
                <a:spcPts val="400"/>
              </a:spcBef>
              <a:spcAft>
                <a:spcPts val="0"/>
              </a:spcAft>
              <a:buSzPts val="1900"/>
              <a:buChar char="⚫"/>
              <a:defRPr sz="20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⚫"/>
              <a:defRPr sz="1800"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 sz="1500"/>
            </a:lvl3pPr>
            <a:lvl4pPr indent="-285750" lvl="3" marL="18288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2" type="body"/>
          </p:nvPr>
        </p:nvSpPr>
        <p:spPr>
          <a:xfrm>
            <a:off x="4648200" y="1440064"/>
            <a:ext cx="4038600" cy="33261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9250" lvl="0" marL="457200" algn="l">
              <a:spcBef>
                <a:spcPts val="400"/>
              </a:spcBef>
              <a:spcAft>
                <a:spcPts val="0"/>
              </a:spcAft>
              <a:buSzPts val="1900"/>
              <a:buChar char="⚫"/>
              <a:defRPr sz="20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SzPts val="1500"/>
              <a:buChar char="⚫"/>
              <a:defRPr sz="1800"/>
            </a:lvl2pPr>
            <a:lvl3pPr indent="-298450" lvl="2" marL="13716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 sz="1500"/>
            </a:lvl3pPr>
            <a:lvl4pPr indent="-285750" lvl="3" marL="18288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530352" y="987552"/>
            <a:ext cx="7772400" cy="10218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entury Gothic"/>
              <a:buNone/>
              <a:defRPr b="1" sz="4200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530352" y="2028498"/>
            <a:ext cx="7772400" cy="11322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7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8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100">
                <a:solidFill>
                  <a:srgbClr val="888888"/>
                </a:solidFill>
              </a:defRPr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57200" y="1391436"/>
            <a:ext cx="4040188" cy="494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4275" spcFirstLastPara="1" rIns="34275" wrap="square" tIns="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1800" cap="none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3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9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8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800"/>
              <a:buNone/>
              <a:defRPr b="1" sz="12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457200" y="1885950"/>
            <a:ext cx="4040188" cy="28842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SzPts val="1600"/>
              <a:buChar char="⚫"/>
              <a:defRPr sz="17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SzPts val="1300"/>
              <a:buChar char="⚫"/>
              <a:defRPr sz="1500"/>
            </a:lvl2pPr>
            <a:lvl3pPr indent="-285750" lvl="2" marL="13716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SzPts val="800"/>
              <a:buChar char="⚫"/>
              <a:defRPr sz="12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SzPts val="800"/>
              <a:buChar char="⚫"/>
              <a:defRPr sz="12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3" type="body"/>
          </p:nvPr>
        </p:nvSpPr>
        <p:spPr>
          <a:xfrm>
            <a:off x="4645026" y="1394819"/>
            <a:ext cx="4041775" cy="491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34275" spcFirstLastPara="1" rIns="34275" wrap="square" tIns="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1800" cap="none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3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9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8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800"/>
              <a:buNone/>
              <a:defRPr b="1" sz="12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4" type="body"/>
          </p:nvPr>
        </p:nvSpPr>
        <p:spPr>
          <a:xfrm>
            <a:off x="4645026" y="1885950"/>
            <a:ext cx="4041775" cy="28842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SzPts val="1600"/>
              <a:buChar char="⚫"/>
              <a:defRPr sz="1700"/>
            </a:lvl1pPr>
            <a:lvl2pPr indent="-311150" lvl="1" marL="914400" algn="l">
              <a:spcBef>
                <a:spcPts val="300"/>
              </a:spcBef>
              <a:spcAft>
                <a:spcPts val="0"/>
              </a:spcAft>
              <a:buSzPts val="1300"/>
              <a:buChar char="⚫"/>
              <a:defRPr sz="1500"/>
            </a:lvl2pPr>
            <a:lvl3pPr indent="-285750" lvl="2" marL="13716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SzPts val="800"/>
              <a:buChar char="⚫"/>
              <a:defRPr sz="12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SzPts val="800"/>
              <a:buChar char="⚫"/>
              <a:defRPr sz="12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57200" y="528066"/>
            <a:ext cx="8305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Century Gothic"/>
              <a:buNone/>
              <a:defRPr b="0" sz="3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685800" y="385764"/>
            <a:ext cx="2743200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Gothic"/>
              <a:buNone/>
              <a:defRPr b="0" sz="2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575050" y="1257300"/>
            <a:ext cx="511175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⚫"/>
              <a:defRPr sz="21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1800"/>
            </a:lvl3pPr>
            <a:lvl4pPr indent="-292100" lvl="3" marL="1828800" algn="l">
              <a:spcBef>
                <a:spcPts val="300"/>
              </a:spcBef>
              <a:spcAft>
                <a:spcPts val="0"/>
              </a:spcAft>
              <a:buSzPts val="1000"/>
              <a:buChar char="⚫"/>
              <a:defRPr sz="1500"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 sz="14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2" type="body"/>
          </p:nvPr>
        </p:nvSpPr>
        <p:spPr>
          <a:xfrm>
            <a:off x="685800" y="1257300"/>
            <a:ext cx="2743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13700" spcFirstLastPara="1" rIns="13700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SzPts val="4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SzPts val="400"/>
              <a:buNone/>
              <a:defRPr sz="7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showMasterSp="0" type="picTx">
  <p:cSld name="PICTURE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/>
          <p:nvPr/>
        </p:nvSpPr>
        <p:spPr>
          <a:xfrm flipH="1" rot="-10380000">
            <a:off x="3165753" y="831058"/>
            <a:ext cx="5257800" cy="30861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1" name="Google Shape;121;p22"/>
          <p:cNvSpPr/>
          <p:nvPr/>
        </p:nvSpPr>
        <p:spPr>
          <a:xfrm flipH="1" rot="-10380000">
            <a:off x="8004134" y="4019827"/>
            <a:ext cx="155448" cy="116586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2" name="Google Shape;122;p22"/>
          <p:cNvSpPr txBox="1"/>
          <p:nvPr>
            <p:ph type="title"/>
          </p:nvPr>
        </p:nvSpPr>
        <p:spPr>
          <a:xfrm>
            <a:off x="609600" y="882748"/>
            <a:ext cx="2212848" cy="118696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Century Gothic"/>
              <a:buNone/>
              <a:defRPr b="1" sz="15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Pusty symbol zastępczy pozwalający dodać obraz. Kliknij symbol zastępczy i wybierz obraz, który chcesz dodać" id="123" name="Google Shape;123;p22"/>
          <p:cNvSpPr/>
          <p:nvPr>
            <p:ph idx="2" type="pic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609600" y="2121589"/>
            <a:ext cx="2209800" cy="16344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48000" spcFirstLastPara="1" rIns="342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SzPts val="900"/>
              <a:buFont typeface="Palatino Linotype"/>
              <a:buNone/>
              <a:defRPr sz="1000"/>
            </a:lvl1pPr>
            <a:lvl2pPr indent="-279400" lvl="1" marL="914400" algn="l">
              <a:spcBef>
                <a:spcPts val="200"/>
              </a:spcBef>
              <a:spcAft>
                <a:spcPts val="0"/>
              </a:spcAft>
              <a:buSzPts val="800"/>
              <a:buChar char="⚫"/>
              <a:defRPr sz="900"/>
            </a:lvl2pPr>
            <a:lvl3pPr indent="-260350" lvl="2" marL="1371600" algn="l">
              <a:spcBef>
                <a:spcPts val="200"/>
              </a:spcBef>
              <a:spcAft>
                <a:spcPts val="0"/>
              </a:spcAft>
              <a:buSzPts val="500"/>
              <a:buChar char="⚫"/>
              <a:defRPr sz="800"/>
            </a:lvl3pPr>
            <a:lvl4pPr indent="-254000" lvl="3" marL="1828800" algn="l">
              <a:spcBef>
                <a:spcPts val="100"/>
              </a:spcBef>
              <a:spcAft>
                <a:spcPts val="0"/>
              </a:spcAft>
              <a:buSzPts val="400"/>
              <a:buChar char="⚫"/>
              <a:defRPr sz="700"/>
            </a:lvl4pPr>
            <a:lvl5pPr indent="-254000" lvl="4" marL="2286000" algn="l">
              <a:spcBef>
                <a:spcPts val="100"/>
              </a:spcBef>
              <a:spcAft>
                <a:spcPts val="0"/>
              </a:spcAft>
              <a:buSzPts val="400"/>
              <a:buChar char="⚫"/>
              <a:defRPr sz="700"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077200" y="4767263"/>
            <a:ext cx="609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128" name="Google Shape;128;p22"/>
          <p:cNvSpPr/>
          <p:nvPr/>
        </p:nvSpPr>
        <p:spPr>
          <a:xfrm flipH="1" rot="10800000">
            <a:off x="-9525" y="4362450"/>
            <a:ext cx="9163050" cy="78105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668F1B">
                  <a:alpha val="44705"/>
                </a:srgbClr>
              </a:gs>
              <a:gs pos="100000">
                <a:srgbClr val="CAE00E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9" name="Google Shape;129;p22"/>
          <p:cNvSpPr/>
          <p:nvPr/>
        </p:nvSpPr>
        <p:spPr>
          <a:xfrm flipH="1" rot="10800000">
            <a:off x="4381500" y="4664870"/>
            <a:ext cx="4762500" cy="478631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99A719">
                  <a:alpha val="29803"/>
                </a:srgbClr>
              </a:gs>
              <a:gs pos="80000">
                <a:srgbClr val="80B814">
                  <a:alpha val="44705"/>
                </a:srgbClr>
              </a:gs>
              <a:gs pos="100000">
                <a:srgbClr val="80B81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 rot="5400000">
            <a:off x="2926080" y="-1017270"/>
            <a:ext cx="329184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algn="l">
              <a:spcBef>
                <a:spcPts val="300"/>
              </a:spcBef>
              <a:spcAft>
                <a:spcPts val="0"/>
              </a:spcAft>
              <a:buSzPts val="13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85750" lvl="2" marL="13716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3pPr>
            <a:lvl4pPr indent="-285750" lvl="3" marL="18288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 rot="5400000">
            <a:off x="5703689" y="1611513"/>
            <a:ext cx="3908822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 rot="5400000">
            <a:off x="1512689" y="-369687"/>
            <a:ext cx="3908822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algn="l">
              <a:spcBef>
                <a:spcPts val="300"/>
              </a:spcBef>
              <a:spcAft>
                <a:spcPts val="0"/>
              </a:spcAft>
              <a:buSzPts val="1300"/>
              <a:buChar char="⚫"/>
              <a:defRPr/>
            </a:lvl1pPr>
            <a:lvl2pPr indent="-298450" lvl="1" marL="914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2pPr>
            <a:lvl3pPr indent="-285750" lvl="2" marL="13716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3pPr>
            <a:lvl4pPr indent="-285750" lvl="3" marL="18288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4pPr>
            <a:lvl5pPr indent="-285750" lvl="4" marL="2286000" algn="l">
              <a:spcBef>
                <a:spcPts val="300"/>
              </a:spcBef>
              <a:spcAft>
                <a:spcPts val="0"/>
              </a:spcAft>
              <a:buSzPts val="900"/>
              <a:buChar char="⚫"/>
              <a:defRPr/>
            </a:lvl5pPr>
            <a:lvl6pPr indent="-298450" lvl="5" marL="27432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indent="-298450" lvl="6" marL="3200400" algn="l"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32048" y="-12085"/>
            <a:ext cx="9198255" cy="5166470"/>
            <a:chOff x="-13703" y="-30627"/>
            <a:chExt cx="12264340" cy="6888627"/>
          </a:xfrm>
        </p:grpSpPr>
        <p:sp>
          <p:nvSpPr>
            <p:cNvPr id="52" name="Google Shape;52;p13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Palatino Linotype"/>
                <a:ea typeface="Palatino Linotype"/>
                <a:cs typeface="Palatino Linotype"/>
                <a:sym typeface="Palatino Linotype"/>
              </a:endParaRPr>
            </a:p>
          </p:txBody>
        </p:sp>
        <p:grpSp>
          <p:nvGrpSpPr>
            <p:cNvPr id="53" name="Google Shape;53;p13"/>
            <p:cNvGrpSpPr/>
            <p:nvPr/>
          </p:nvGrpSpPr>
          <p:grpSpPr>
            <a:xfrm>
              <a:off x="-13703" y="-30627"/>
              <a:ext cx="12264340" cy="1086266"/>
              <a:chOff x="-39059" y="-16113"/>
              <a:chExt cx="12264340" cy="1086266"/>
            </a:xfrm>
          </p:grpSpPr>
          <p:sp>
            <p:nvSpPr>
              <p:cNvPr id="54" name="Google Shape;54;p13"/>
              <p:cNvSpPr/>
              <p:nvPr/>
            </p:nvSpPr>
            <p:spPr>
              <a:xfrm>
                <a:off x="-12700" y="-7144"/>
                <a:ext cx="12217400" cy="1041400"/>
              </a:xfrm>
              <a:custGeom>
                <a:rect b="b" l="l" r="r" t="t"/>
                <a:pathLst>
                  <a:path extrusionOk="0" h="656" w="5772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rgbClr val="668F1B">
                      <a:alpha val="44705"/>
                    </a:srgbClr>
                  </a:gs>
                  <a:gs pos="100000">
                    <a:srgbClr val="CAE00E">
                      <a:alpha val="54901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endParaRPr>
              </a:p>
            </p:txBody>
          </p:sp>
          <p:sp>
            <p:nvSpPr>
              <p:cNvPr id="55" name="Google Shape;55;p13"/>
              <p:cNvSpPr/>
              <p:nvPr/>
            </p:nvSpPr>
            <p:spPr>
              <a:xfrm>
                <a:off x="5842000" y="-7144"/>
                <a:ext cx="6350000" cy="638175"/>
              </a:xfrm>
              <a:custGeom>
                <a:rect b="b" l="l" r="r" t="t"/>
                <a:pathLst>
                  <a:path extrusionOk="0" h="595" w="3000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A719">
                      <a:alpha val="29803"/>
                    </a:srgbClr>
                  </a:gs>
                  <a:gs pos="80000">
                    <a:srgbClr val="80B814">
                      <a:alpha val="44705"/>
                    </a:srgbClr>
                  </a:gs>
                  <a:gs pos="100000">
                    <a:srgbClr val="80B814">
                      <a:alpha val="44705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Palatino Linotype"/>
                  <a:ea typeface="Palatino Linotype"/>
                  <a:cs typeface="Palatino Linotype"/>
                  <a:sym typeface="Palatino Linotype"/>
                </a:endParaRPr>
              </a:p>
            </p:txBody>
          </p:sp>
          <p:grpSp>
            <p:nvGrpSpPr>
              <p:cNvPr id="56" name="Google Shape;56;p13"/>
              <p:cNvGrpSpPr/>
              <p:nvPr/>
            </p:nvGrpSpPr>
            <p:grpSpPr>
              <a:xfrm>
                <a:off x="-39059" y="-16113"/>
                <a:ext cx="12264340" cy="1086266"/>
                <a:chOff x="-29322" y="-1971"/>
                <a:chExt cx="9198255" cy="1086266"/>
              </a:xfrm>
            </p:grpSpPr>
            <p:sp>
              <p:nvSpPr>
                <p:cNvPr id="57" name="Google Shape;57;p13"/>
                <p:cNvSpPr/>
                <p:nvPr/>
              </p:nvSpPr>
              <p:spPr>
                <a:xfrm rot="-164308">
                  <a:off x="-19045" y="216550"/>
                  <a:ext cx="9163050" cy="649224"/>
                </a:xfrm>
                <a:custGeom>
                  <a:rect b="b" l="l" r="r" t="t"/>
                  <a:pathLst>
                    <a:path extrusionOk="0" h="1055" w="5772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cap="flat" cmpd="sng" w="10775">
                  <a:solidFill>
                    <a:srgbClr val="A8B53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Palatino Linotype"/>
                    <a:ea typeface="Palatino Linotype"/>
                    <a:cs typeface="Palatino Linotype"/>
                    <a:sym typeface="Palatino Linotype"/>
                  </a:endParaRPr>
                </a:p>
              </p:txBody>
            </p:sp>
            <p:sp>
              <p:nvSpPr>
                <p:cNvPr id="58" name="Google Shape;58;p13"/>
                <p:cNvSpPr/>
                <p:nvPr/>
              </p:nvSpPr>
              <p:spPr>
                <a:xfrm rot="-164308">
                  <a:off x="-14309" y="290003"/>
                  <a:ext cx="9175812" cy="530352"/>
                </a:xfrm>
                <a:custGeom>
                  <a:rect b="b" l="l" r="r" t="t"/>
                  <a:pathLst>
                    <a:path extrusionOk="0" h="854" w="5766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chemeClr val="dk1"/>
                    </a:solidFill>
                    <a:latin typeface="Palatino Linotype"/>
                    <a:ea typeface="Palatino Linotype"/>
                    <a:cs typeface="Palatino Linotype"/>
                    <a:sym typeface="Palatino Linotype"/>
                  </a:endParaRPr>
                </a:p>
              </p:txBody>
            </p:sp>
          </p:grpSp>
        </p:grpSp>
      </p:grpSp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Century Gothic"/>
              <a:buNone/>
              <a:defRPr b="0" i="0" sz="3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451610"/>
            <a:ext cx="8229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925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626A19"/>
              </a:buClr>
              <a:buSzPts val="19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-323850" lvl="1" marL="914400" marR="0" rtl="0" algn="l">
              <a:spcBef>
                <a:spcPts val="400"/>
              </a:spcBef>
              <a:spcAft>
                <a:spcPts val="0"/>
              </a:spcAft>
              <a:buClr>
                <a:srgbClr val="2A4F1C"/>
              </a:buClr>
              <a:buSzPts val="150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-298450" lvl="2" marL="1371600" marR="0" rtl="0" algn="l">
              <a:spcBef>
                <a:spcPts val="300"/>
              </a:spcBef>
              <a:spcAft>
                <a:spcPts val="0"/>
              </a:spcAft>
              <a:buClr>
                <a:srgbClr val="455C19"/>
              </a:buClr>
              <a:buSzPts val="110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-292100" lvl="3" marL="1828800" marR="0" rtl="0" algn="l">
              <a:spcBef>
                <a:spcPts val="300"/>
              </a:spcBef>
              <a:spcAft>
                <a:spcPts val="0"/>
              </a:spcAft>
              <a:buClr>
                <a:srgbClr val="626A19"/>
              </a:buClr>
              <a:buSzPts val="10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-292100" lvl="4" marL="2286000" marR="0" rtl="0" algn="l">
              <a:spcBef>
                <a:spcPts val="300"/>
              </a:spcBef>
              <a:spcAft>
                <a:spcPts val="0"/>
              </a:spcAft>
              <a:buClr>
                <a:srgbClr val="017058"/>
              </a:buClr>
              <a:buSzPts val="1000"/>
              <a:buFont typeface="Noto Sans Symbols"/>
              <a:buChar char="⚫"/>
              <a:defRPr b="0" i="0" sz="15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-29845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215D65"/>
              </a:buClr>
              <a:buSzPts val="1100"/>
              <a:buFont typeface="Noto Sans Symbols"/>
              <a:buChar char="⚫"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rgbClr val="066684"/>
              </a:buClr>
              <a:buSzPts val="1000"/>
              <a:buFont typeface="Noto Sans Symbols"/>
              <a:buChar char="⚫"/>
              <a:defRPr b="0" i="0" sz="1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-3048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alatino Linotype"/>
              <a:buChar char="•"/>
              <a:defRPr b="0" i="0" sz="1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-2286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Palatino Linotype"/>
              <a:buNone/>
              <a:defRPr b="0" i="0" sz="11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1" type="ftr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RitVJkqYozOiSF3lPG4GXN3WradlXDh4/view" TargetMode="External"/><Relationship Id="rId4" Type="http://schemas.openxmlformats.org/officeDocument/2006/relationships/image" Target="../media/image16.jp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9" Type="http://schemas.openxmlformats.org/officeDocument/2006/relationships/image" Target="../media/image30.png"/><Relationship Id="rId5" Type="http://schemas.openxmlformats.org/officeDocument/2006/relationships/image" Target="../media/image17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9" Type="http://schemas.openxmlformats.org/officeDocument/2006/relationships/image" Target="../media/image38.png"/><Relationship Id="rId5" Type="http://schemas.openxmlformats.org/officeDocument/2006/relationships/image" Target="../media/image26.png"/><Relationship Id="rId6" Type="http://schemas.openxmlformats.org/officeDocument/2006/relationships/image" Target="../media/image40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9" Type="http://schemas.openxmlformats.org/officeDocument/2006/relationships/image" Target="../media/image39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Relationship Id="rId8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31.png"/><Relationship Id="rId9" Type="http://schemas.openxmlformats.org/officeDocument/2006/relationships/image" Target="../media/image49.png"/><Relationship Id="rId5" Type="http://schemas.openxmlformats.org/officeDocument/2006/relationships/image" Target="../media/image33.png"/><Relationship Id="rId6" Type="http://schemas.openxmlformats.org/officeDocument/2006/relationships/image" Target="../media/image23.png"/><Relationship Id="rId7" Type="http://schemas.openxmlformats.org/officeDocument/2006/relationships/image" Target="../media/image37.png"/><Relationship Id="rId8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44.png"/><Relationship Id="rId7" Type="http://schemas.openxmlformats.org/officeDocument/2006/relationships/image" Target="../media/image4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51.png"/><Relationship Id="rId5" Type="http://schemas.openxmlformats.org/officeDocument/2006/relationships/image" Target="../media/image46.png"/><Relationship Id="rId6" Type="http://schemas.openxmlformats.org/officeDocument/2006/relationships/image" Target="../media/image45.png"/><Relationship Id="rId7" Type="http://schemas.openxmlformats.org/officeDocument/2006/relationships/image" Target="../media/image5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52.png"/><Relationship Id="rId5" Type="http://schemas.openxmlformats.org/officeDocument/2006/relationships/image" Target="../media/image56.png"/><Relationship Id="rId6" Type="http://schemas.openxmlformats.org/officeDocument/2006/relationships/image" Target="../media/image55.png"/><Relationship Id="rId7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Relationship Id="rId4" Type="http://schemas.openxmlformats.org/officeDocument/2006/relationships/image" Target="../media/image65.png"/><Relationship Id="rId9" Type="http://schemas.openxmlformats.org/officeDocument/2006/relationships/image" Target="../media/image60.png"/><Relationship Id="rId5" Type="http://schemas.openxmlformats.org/officeDocument/2006/relationships/image" Target="../media/image70.png"/><Relationship Id="rId6" Type="http://schemas.openxmlformats.org/officeDocument/2006/relationships/image" Target="../media/image59.png"/><Relationship Id="rId7" Type="http://schemas.openxmlformats.org/officeDocument/2006/relationships/image" Target="../media/image58.png"/><Relationship Id="rId8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67.png"/><Relationship Id="rId9" Type="http://schemas.openxmlformats.org/officeDocument/2006/relationships/image" Target="../media/image73.png"/><Relationship Id="rId5" Type="http://schemas.openxmlformats.org/officeDocument/2006/relationships/image" Target="../media/image62.png"/><Relationship Id="rId6" Type="http://schemas.openxmlformats.org/officeDocument/2006/relationships/image" Target="../media/image64.png"/><Relationship Id="rId7" Type="http://schemas.openxmlformats.org/officeDocument/2006/relationships/image" Target="../media/image63.png"/><Relationship Id="rId8" Type="http://schemas.openxmlformats.org/officeDocument/2006/relationships/image" Target="../media/image6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2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69.png"/><Relationship Id="rId9" Type="http://schemas.openxmlformats.org/officeDocument/2006/relationships/image" Target="../media/image75.png"/><Relationship Id="rId5" Type="http://schemas.openxmlformats.org/officeDocument/2006/relationships/image" Target="../media/image66.png"/><Relationship Id="rId6" Type="http://schemas.openxmlformats.org/officeDocument/2006/relationships/image" Target="../media/image71.png"/><Relationship Id="rId7" Type="http://schemas.openxmlformats.org/officeDocument/2006/relationships/image" Target="../media/image68.png"/><Relationship Id="rId8" Type="http://schemas.openxmlformats.org/officeDocument/2006/relationships/image" Target="../media/image8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83.png"/><Relationship Id="rId9" Type="http://schemas.openxmlformats.org/officeDocument/2006/relationships/image" Target="../media/image74.png"/><Relationship Id="rId5" Type="http://schemas.openxmlformats.org/officeDocument/2006/relationships/image" Target="../media/image79.png"/><Relationship Id="rId6" Type="http://schemas.openxmlformats.org/officeDocument/2006/relationships/image" Target="../media/image78.png"/><Relationship Id="rId7" Type="http://schemas.openxmlformats.org/officeDocument/2006/relationships/image" Target="../media/image77.png"/><Relationship Id="rId8" Type="http://schemas.openxmlformats.org/officeDocument/2006/relationships/image" Target="../media/image8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Relationship Id="rId4" Type="http://schemas.openxmlformats.org/officeDocument/2006/relationships/image" Target="../media/image81.png"/><Relationship Id="rId9" Type="http://schemas.openxmlformats.org/officeDocument/2006/relationships/image" Target="../media/image91.png"/><Relationship Id="rId5" Type="http://schemas.openxmlformats.org/officeDocument/2006/relationships/image" Target="../media/image76.png"/><Relationship Id="rId6" Type="http://schemas.openxmlformats.org/officeDocument/2006/relationships/image" Target="../media/image84.png"/><Relationship Id="rId7" Type="http://schemas.openxmlformats.org/officeDocument/2006/relationships/image" Target="../media/image86.png"/><Relationship Id="rId8" Type="http://schemas.openxmlformats.org/officeDocument/2006/relationships/image" Target="../media/image8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90.png"/><Relationship Id="rId9" Type="http://schemas.openxmlformats.org/officeDocument/2006/relationships/image" Target="../media/image94.png"/><Relationship Id="rId5" Type="http://schemas.openxmlformats.org/officeDocument/2006/relationships/image" Target="../media/image85.png"/><Relationship Id="rId6" Type="http://schemas.openxmlformats.org/officeDocument/2006/relationships/image" Target="../media/image88.png"/><Relationship Id="rId7" Type="http://schemas.openxmlformats.org/officeDocument/2006/relationships/image" Target="../media/image96.png"/><Relationship Id="rId8" Type="http://schemas.openxmlformats.org/officeDocument/2006/relationships/image" Target="../media/image9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Relationship Id="rId4" Type="http://schemas.openxmlformats.org/officeDocument/2006/relationships/image" Target="../media/image69.png"/><Relationship Id="rId9" Type="http://schemas.openxmlformats.org/officeDocument/2006/relationships/image" Target="../media/image111.png"/><Relationship Id="rId5" Type="http://schemas.openxmlformats.org/officeDocument/2006/relationships/image" Target="../media/image92.png"/><Relationship Id="rId6" Type="http://schemas.openxmlformats.org/officeDocument/2006/relationships/image" Target="../media/image95.png"/><Relationship Id="rId7" Type="http://schemas.openxmlformats.org/officeDocument/2006/relationships/image" Target="../media/image102.png"/><Relationship Id="rId8" Type="http://schemas.openxmlformats.org/officeDocument/2006/relationships/image" Target="../media/image9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105.png"/><Relationship Id="rId9" Type="http://schemas.openxmlformats.org/officeDocument/2006/relationships/image" Target="../media/image68.png"/><Relationship Id="rId5" Type="http://schemas.openxmlformats.org/officeDocument/2006/relationships/image" Target="../media/image99.png"/><Relationship Id="rId6" Type="http://schemas.openxmlformats.org/officeDocument/2006/relationships/image" Target="../media/image98.png"/><Relationship Id="rId7" Type="http://schemas.openxmlformats.org/officeDocument/2006/relationships/image" Target="../media/image114.png"/><Relationship Id="rId8" Type="http://schemas.openxmlformats.org/officeDocument/2006/relationships/image" Target="../media/image10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Relationship Id="rId4" Type="http://schemas.openxmlformats.org/officeDocument/2006/relationships/image" Target="../media/image116.png"/><Relationship Id="rId9" Type="http://schemas.openxmlformats.org/officeDocument/2006/relationships/image" Target="../media/image109.png"/><Relationship Id="rId5" Type="http://schemas.openxmlformats.org/officeDocument/2006/relationships/image" Target="../media/image100.png"/><Relationship Id="rId6" Type="http://schemas.openxmlformats.org/officeDocument/2006/relationships/image" Target="../media/image103.png"/><Relationship Id="rId7" Type="http://schemas.openxmlformats.org/officeDocument/2006/relationships/image" Target="../media/image108.png"/><Relationship Id="rId8" Type="http://schemas.openxmlformats.org/officeDocument/2006/relationships/image" Target="../media/image10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9" Type="http://schemas.openxmlformats.org/officeDocument/2006/relationships/image" Target="../media/image115.png"/><Relationship Id="rId5" Type="http://schemas.openxmlformats.org/officeDocument/2006/relationships/image" Target="../media/image49.png"/><Relationship Id="rId6" Type="http://schemas.openxmlformats.org/officeDocument/2006/relationships/image" Target="../media/image117.png"/><Relationship Id="rId7" Type="http://schemas.openxmlformats.org/officeDocument/2006/relationships/image" Target="../media/image101.png"/><Relationship Id="rId8" Type="http://schemas.openxmlformats.org/officeDocument/2006/relationships/image" Target="../media/image7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59.png"/><Relationship Id="rId9" Type="http://schemas.openxmlformats.org/officeDocument/2006/relationships/image" Target="../media/image98.png"/><Relationship Id="rId5" Type="http://schemas.openxmlformats.org/officeDocument/2006/relationships/image" Target="../media/image74.png"/><Relationship Id="rId6" Type="http://schemas.openxmlformats.org/officeDocument/2006/relationships/image" Target="../media/image58.png"/><Relationship Id="rId7" Type="http://schemas.openxmlformats.org/officeDocument/2006/relationships/image" Target="../media/image14.png"/><Relationship Id="rId8" Type="http://schemas.openxmlformats.org/officeDocument/2006/relationships/image" Target="../media/image1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2.png"/><Relationship Id="rId4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ctrTitle"/>
          </p:nvPr>
        </p:nvSpPr>
        <p:spPr>
          <a:xfrm>
            <a:off x="153617" y="1158003"/>
            <a:ext cx="78516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37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Gothic"/>
              <a:buNone/>
            </a:pPr>
            <a:r>
              <a:rPr lang="pl" sz="3000"/>
              <a:t>Symulacja niestabilności Kelvina-Helmholtza z wykorzystaniem obliczeń równoległych</a:t>
            </a:r>
            <a:endParaRPr/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751375" y="2893976"/>
            <a:ext cx="7854600" cy="14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13700" wrap="square" tIns="34275">
            <a:normAutofit fontScale="7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pl"/>
              <a:t>Tymoteusz Prostak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pl"/>
              <a:t>opienkun: mgr.Paweł Jędrejko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rPr lang="pl"/>
              <a:t> 											                                      				     </a:t>
            </a:r>
            <a:r>
              <a:rPr lang="pl"/>
              <a:t>                          </a:t>
            </a:r>
            <a:endParaRPr/>
          </a:p>
          <a:p>
            <a:pPr indent="0" lvl="0" marL="0" rtl="0" algn="r">
              <a:spcBef>
                <a:spcPts val="4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687605"/>
            <a:ext cx="2675964" cy="84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0500" y="3637988"/>
            <a:ext cx="4227015" cy="9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188353" y="44926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entury Gothic"/>
              <a:buNone/>
            </a:pPr>
            <a:r>
              <a:rPr b="1" lang="pl" sz="2800"/>
              <a:t>Niestabilność</a:t>
            </a:r>
            <a:r>
              <a:rPr b="1" lang="pl" sz="2800"/>
              <a:t> </a:t>
            </a:r>
            <a:r>
              <a:rPr b="1" lang="pl" sz="2800"/>
              <a:t>Kelvina</a:t>
            </a:r>
            <a:r>
              <a:rPr b="1" lang="pl" sz="2800"/>
              <a:t>-</a:t>
            </a:r>
            <a:r>
              <a:rPr b="1" lang="pl" sz="2800"/>
              <a:t>Helmholtza</a:t>
            </a:r>
            <a:r>
              <a:rPr b="1" lang="pl" sz="2800"/>
              <a:t> : </a:t>
            </a:r>
            <a:r>
              <a:rPr b="1" lang="pl" sz="2800"/>
              <a:t>wstęp teoretyczny</a:t>
            </a:r>
            <a:r>
              <a:rPr lang="pl" sz="2800"/>
              <a:t> </a:t>
            </a:r>
            <a:endParaRPr sz="2800"/>
          </a:p>
        </p:txBody>
      </p:sp>
      <p:pic>
        <p:nvPicPr>
          <p:cNvPr id="156" name="Google Shape;1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/>
        </p:nvSpPr>
        <p:spPr>
          <a:xfrm>
            <a:off x="188350" y="1432325"/>
            <a:ext cx="4584600" cy="3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latino Linotype"/>
              <a:buChar char="-"/>
            </a:pP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kanoniczna nie</a:t>
            </a: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stabilność</a:t>
            </a: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 w mechanice płynów</a:t>
            </a:r>
            <a:endParaRPr sz="2000"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latino Linotype"/>
              <a:buChar char="-"/>
            </a:pP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ścinanie na granicy płynów</a:t>
            </a:r>
            <a:endParaRPr sz="2000"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Palatino Linotype"/>
              <a:buChar char="-"/>
            </a:pP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może prowadzić do przejścia z </a:t>
            </a: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przepływu</a:t>
            </a: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 laminarnego w </a:t>
            </a:r>
            <a:r>
              <a:rPr lang="pl" sz="2000">
                <a:latin typeface="Palatino Linotype"/>
                <a:ea typeface="Palatino Linotype"/>
                <a:cs typeface="Palatino Linotype"/>
                <a:sym typeface="Palatino Linotype"/>
              </a:rPr>
              <a:t>turbulentny</a:t>
            </a:r>
            <a:endParaRPr sz="2000"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4922925" y="4231950"/>
            <a:ext cx="3916500" cy="7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1100">
                <a:solidFill>
                  <a:srgbClr val="62626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Credit: https://commons.wikimedia.org/wiki/File:Kelvin_Helmholz_wave_clouds.jpg</a:t>
            </a:r>
            <a:endParaRPr sz="15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5350" y="1459048"/>
            <a:ext cx="3934688" cy="2620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457200" y="2966575"/>
            <a:ext cx="2574600" cy="177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l"/>
              <a:t>Niestabilność Kelvina-Helholtza uzyskana w laboratorium [2]</a:t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8500" y="741525"/>
            <a:ext cx="5288976" cy="192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8500" y="2792575"/>
            <a:ext cx="5288975" cy="1950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26125" y="211025"/>
            <a:ext cx="8694600" cy="644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Gothic"/>
              <a:buNone/>
            </a:pPr>
            <a:r>
              <a:rPr b="1" lang="pl" sz="2800"/>
              <a:t>Badany układ - założenia </a:t>
            </a:r>
            <a:endParaRPr b="1" sz="2800"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26125" y="936175"/>
            <a:ext cx="8290200" cy="345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300"/>
              </a:spcBef>
              <a:spcAft>
                <a:spcPts val="0"/>
              </a:spcAft>
              <a:buSzPts val="1800"/>
              <a:buChar char="-"/>
            </a:pPr>
            <a:r>
              <a:rPr lang="pl" sz="1800"/>
              <a:t>zachowana cyrkulacja (T)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 sz="1800"/>
              <a:t>brak lepkości i napięcia powierzchniowego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 sz="1800"/>
              <a:t>periodyczność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l" sz="1800"/>
              <a:t>początkowe zaburzenie ma charakter sinusoidalny albo szumu jednorodnego,  obydwa o jednakowej amplitudzie (0.001)</a:t>
            </a:r>
            <a:endParaRPr sz="1800"/>
          </a:p>
        </p:txBody>
      </p:sp>
      <p:sp>
        <p:nvSpPr>
          <p:cNvPr id="174" name="Google Shape;174;p28"/>
          <p:cNvSpPr txBox="1"/>
          <p:nvPr/>
        </p:nvSpPr>
        <p:spPr>
          <a:xfrm>
            <a:off x="457200" y="2724500"/>
            <a:ext cx="85173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580000"/>
            <a:ext cx="3391366" cy="248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1000" y="2495612"/>
            <a:ext cx="3703099" cy="277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457200" y="5280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2800"/>
              <a:t>Dynamika układu</a:t>
            </a:r>
            <a:endParaRPr/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457200" y="145161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każdy wycinek powierzchni wirowej indukuje wokół siebie pole prędkości, unoszące inne wycinki</a:t>
            </a:r>
            <a:br>
              <a:rPr lang="pl"/>
            </a:b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br>
              <a:rPr lang="pl"/>
            </a:br>
            <a:endParaRPr/>
          </a:p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po zdyskretyzowaniu, zagadnienie ma postać problemu N ciał</a:t>
            </a:r>
            <a:br>
              <a:rPr lang="pl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N zmienia się w czasie, kiedy powierzchnia się rozciąga</a:t>
            </a:r>
            <a:endParaRPr/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973" y="2143048"/>
            <a:ext cx="2359747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556300" y="39151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Równania konstytutywne</a:t>
            </a:r>
            <a:r>
              <a:rPr b="1" lang="pl" sz="3020"/>
              <a:t>  </a:t>
            </a:r>
            <a:endParaRPr b="1" sz="3020"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457200" y="1457924"/>
            <a:ext cx="8229600" cy="3575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l"/>
              <a:t>Uwzględniając periodyczne warunki brzegowe, prędkość unosząca każdy fragment powierzchni zadana jest przez równania:</a:t>
            </a:r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000" y="2196850"/>
            <a:ext cx="68865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225" y="3187450"/>
            <a:ext cx="6534150" cy="99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/>
        </p:nvSpPr>
        <p:spPr>
          <a:xfrm>
            <a:off x="749800" y="4330975"/>
            <a:ext cx="81498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00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które następnie całkowane są schematem Rungego-Kutty 4 rzędu</a:t>
            </a:r>
            <a:endParaRPr sz="2000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457200" y="5280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000"/>
              <a:t>Regularyzacja δ</a:t>
            </a:r>
            <a:endParaRPr/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457200" y="145161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w nielepkich powierzchniach wirowych, niestabilność obejmuje dowolnie małe skale</a:t>
            </a:r>
            <a:br>
              <a:rPr lang="pl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numerycznie jest to nierozwiązywalne</a:t>
            </a:r>
            <a:br>
              <a:rPr lang="pl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regularyzacja [1] tłumi indukowanie skal mniejszych niż δ</a:t>
            </a:r>
            <a:br>
              <a:rPr lang="pl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interpretowana jako przypisanie powierzchni, małej, lecz skończonej grubości</a:t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393575" y="445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000"/>
              <a:t>Cele symulacji</a:t>
            </a:r>
            <a:endParaRPr b="1" sz="3000"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187600" y="925798"/>
            <a:ext cx="8229600" cy="4069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zbadanie </a:t>
            </a:r>
            <a:r>
              <a:rPr lang="pl"/>
              <a:t>przestrzennej</a:t>
            </a:r>
            <a:r>
              <a:rPr lang="pl"/>
              <a:t> ewolucji powierzchni wirowej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zbadanie ewolucji rozkładu Fouriera indukowanej prędkości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l"/>
              <a:t>zbadanie efektywności mieszania - przepływu płynu przez </a:t>
            </a:r>
            <a:r>
              <a:rPr lang="pl"/>
              <a:t>powierzchnię</a:t>
            </a:r>
            <a:r>
              <a:rPr lang="pl"/>
              <a:t> y=0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0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Wyzwania:</a:t>
            </a:r>
            <a:endParaRPr b="1" sz="3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problem ma złożoność czasową N² (interakcje każdy z każdym)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N rośnie wykładniczo przez rozciąganie się powierzchni </a:t>
            </a:r>
            <a:endParaRPr b="1" sz="3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457200" y="5280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000"/>
              <a:t>Obliczenia równoległe</a:t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457200" y="145161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Wyznaczenie prędkości w różnych punktach jest od siebie niezależne -&gt; może być wykonywane równolegle</a:t>
            </a:r>
            <a:endParaRPr/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l"/>
              <a:t>wykorzystano dwa komputery, wpięte do jednej sieci LAN</a:t>
            </a:r>
            <a:endParaRPr/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l"/>
              <a:t>i bibliotekę MPI:</a:t>
            </a:r>
            <a:br>
              <a:rPr lang="pl"/>
            </a:br>
            <a:endParaRPr/>
          </a:p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l"/>
              <a:t>- </a:t>
            </a:r>
            <a:r>
              <a:rPr lang="pl"/>
              <a:t>każdy wątek realizuje osobną kopię programu na innym zakresie danych</a:t>
            </a:r>
            <a:br>
              <a:rPr lang="pl"/>
            </a:br>
            <a:r>
              <a:rPr lang="pl"/>
              <a:t>- wątki wymieniają się wynikami, przed wykonaniem kroku w czasie</a:t>
            </a:r>
            <a:endParaRPr/>
          </a:p>
        </p:txBody>
      </p:sp>
      <p:pic>
        <p:nvPicPr>
          <p:cNvPr id="216" name="Google Shape;21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0575" y="0"/>
            <a:ext cx="1153425" cy="4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457200" y="311141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Analiza Fourierowska</a:t>
            </a:r>
            <a:r>
              <a:rPr lang="pl" sz="3020"/>
              <a:t> </a:t>
            </a:r>
            <a:endParaRPr sz="3020"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457200" y="126081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1150" lvl="0" marL="457200" rtl="0" algn="l">
              <a:spcBef>
                <a:spcPts val="30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predkość jest próbkowana w ustalonej liczbie punktów na osi y=0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l"/>
              <a:t>kolejne liczby falowe odpowiadają kolejnym (mniejszym) skalom wirów</a:t>
            </a:r>
            <a:endParaRPr/>
          </a:p>
        </p:txBody>
      </p:sp>
      <p:pic>
        <p:nvPicPr>
          <p:cNvPr id="223" name="Google Shape;22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5725" y="2260150"/>
            <a:ext cx="3704400" cy="27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450" y="2260150"/>
            <a:ext cx="3704400" cy="277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457200" y="418681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Zaburzenie sinusoidalne</a:t>
            </a:r>
            <a:endParaRPr b="1"/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457200" y="4585685"/>
            <a:ext cx="54000" cy="157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32500" lnSpcReduction="10000"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2" name="Google Shape;23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125" y="475838"/>
            <a:ext cx="5184000" cy="38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1231375" y="4193374"/>
            <a:ext cx="8009100" cy="7308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3000"/>
              <a:t>Ewolucja czasowa dla delta=0.01  </a:t>
            </a:r>
            <a:endParaRPr b="1" sz="3000"/>
          </a:p>
        </p:txBody>
      </p:sp>
      <p:pic>
        <p:nvPicPr>
          <p:cNvPr id="239" name="Google Shape;239;p36" title="animation-ezgif.com-gif-to-mp4-converter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9613" y="304800"/>
            <a:ext cx="5184765" cy="3888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90575" y="0"/>
            <a:ext cx="1153425" cy="4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/>
          <p:nvPr>
            <p:ph type="title"/>
          </p:nvPr>
        </p:nvSpPr>
        <p:spPr>
          <a:xfrm>
            <a:off x="280621" y="48875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Analiza ewolucji </a:t>
            </a:r>
            <a:r>
              <a:rPr b="1" lang="pl" sz="3020"/>
              <a:t>przestrzennej</a:t>
            </a:r>
            <a:r>
              <a:rPr b="1" lang="pl" sz="3020"/>
              <a:t> wirów w czasie, delta = 0.75</a:t>
            </a:r>
            <a:endParaRPr b="1" sz="3020"/>
          </a:p>
        </p:txBody>
      </p:sp>
      <p:pic>
        <p:nvPicPr>
          <p:cNvPr id="246" name="Google Shape;24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3256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7"/>
          <p:cNvSpPr txBox="1"/>
          <p:nvPr/>
        </p:nvSpPr>
        <p:spPr>
          <a:xfrm>
            <a:off x="1421221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3893046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399846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625" y="977600"/>
            <a:ext cx="2797494" cy="2105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1800" y="977612"/>
            <a:ext cx="2796026" cy="2105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3950" y="1021662"/>
            <a:ext cx="2796026" cy="2105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31800" y="3187049"/>
            <a:ext cx="2796026" cy="2105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3950" y="3187061"/>
            <a:ext cx="2796026" cy="2105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9637" y="3083087"/>
            <a:ext cx="2796026" cy="2105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348800" y="0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Analiza ewolucji przestrzennej wirów w czasie, delta = 0.25</a:t>
            </a:r>
            <a:endParaRPr b="1" sz="3020"/>
          </a:p>
        </p:txBody>
      </p:sp>
      <p:pic>
        <p:nvPicPr>
          <p:cNvPr id="261" name="Google Shape;26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8"/>
          <p:cNvSpPr txBox="1"/>
          <p:nvPr/>
        </p:nvSpPr>
        <p:spPr>
          <a:xfrm>
            <a:off x="1489400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63" name="Google Shape;263;p38"/>
          <p:cNvSpPr txBox="1"/>
          <p:nvPr/>
        </p:nvSpPr>
        <p:spPr>
          <a:xfrm>
            <a:off x="4468025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64" name="Google Shape;26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125" y="93262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4724" y="932637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1917" y="93262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1450" y="293652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38563" y="2936532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30325" y="2936513"/>
            <a:ext cx="2797200" cy="21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>
            <p:ph type="title"/>
          </p:nvPr>
        </p:nvSpPr>
        <p:spPr>
          <a:xfrm>
            <a:off x="245700" y="-251550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2800"/>
              <a:t>Analiza ewolucji przestrzennej wirów w czasie, delta = 0.01</a:t>
            </a:r>
            <a:endParaRPr b="1" sz="2800"/>
          </a:p>
        </p:txBody>
      </p:sp>
      <p:pic>
        <p:nvPicPr>
          <p:cNvPr id="275" name="Google Shape;27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9"/>
          <p:cNvSpPr txBox="1"/>
          <p:nvPr/>
        </p:nvSpPr>
        <p:spPr>
          <a:xfrm>
            <a:off x="1489400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3961225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78" name="Google Shape;278;p39"/>
          <p:cNvSpPr txBox="1"/>
          <p:nvPr/>
        </p:nvSpPr>
        <p:spPr>
          <a:xfrm>
            <a:off x="4468025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79" name="Google Shape;279;p39"/>
          <p:cNvPicPr preferRelativeResize="0"/>
          <p:nvPr/>
        </p:nvPicPr>
        <p:blipFill rotWithShape="1">
          <a:blip r:embed="rId4">
            <a:alphaModFix/>
          </a:blip>
          <a:srcRect b="961" l="0" r="0" t="0"/>
          <a:stretch/>
        </p:blipFill>
        <p:spPr>
          <a:xfrm>
            <a:off x="3046024" y="797450"/>
            <a:ext cx="31102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275" y="763650"/>
            <a:ext cx="31104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263" y="2848800"/>
            <a:ext cx="31104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93825" y="2849163"/>
            <a:ext cx="3110400" cy="214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33601" y="2848788"/>
            <a:ext cx="31104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92474" y="763650"/>
            <a:ext cx="3110400" cy="214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title"/>
          </p:nvPr>
        </p:nvSpPr>
        <p:spPr>
          <a:xfrm>
            <a:off x="327600" y="-84850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Porównanie układu wirów w </a:t>
            </a:r>
            <a:r>
              <a:rPr b="1" lang="pl" sz="3020"/>
              <a:t>chwili</a:t>
            </a:r>
            <a:r>
              <a:rPr b="1" lang="pl" sz="3020"/>
              <a:t> t=4.5 dla rosnącego delta</a:t>
            </a:r>
            <a:endParaRPr b="1" sz="3020"/>
          </a:p>
        </p:txBody>
      </p:sp>
      <p:pic>
        <p:nvPicPr>
          <p:cNvPr id="290" name="Google Shape;29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0"/>
          <p:cNvSpPr txBox="1"/>
          <p:nvPr/>
        </p:nvSpPr>
        <p:spPr>
          <a:xfrm>
            <a:off x="1489400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92" name="Google Shape;292;p40"/>
          <p:cNvSpPr txBox="1"/>
          <p:nvPr/>
        </p:nvSpPr>
        <p:spPr>
          <a:xfrm>
            <a:off x="4468025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93" name="Google Shape;29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" y="1042350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6788" y="1042350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500" y="3116696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73413" y="1042338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46800" y="3116700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21138" y="3116700"/>
            <a:ext cx="2797200" cy="20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1"/>
          <p:cNvSpPr txBox="1"/>
          <p:nvPr>
            <p:ph type="title"/>
          </p:nvPr>
        </p:nvSpPr>
        <p:spPr>
          <a:xfrm>
            <a:off x="327600" y="-84850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Porównanie wyników symulacji z wynikami z artykułu [1]</a:t>
            </a:r>
            <a:endParaRPr b="1" sz="3020"/>
          </a:p>
        </p:txBody>
      </p:sp>
      <p:pic>
        <p:nvPicPr>
          <p:cNvPr id="304" name="Google Shape;30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1"/>
          <p:cNvSpPr txBox="1"/>
          <p:nvPr/>
        </p:nvSpPr>
        <p:spPr>
          <a:xfrm>
            <a:off x="1489400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06" name="Google Shape;306;p41"/>
          <p:cNvSpPr txBox="1"/>
          <p:nvPr/>
        </p:nvSpPr>
        <p:spPr>
          <a:xfrm>
            <a:off x="4468025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07" name="Google Shape;30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7538" y="930350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1225" y="930350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1225" y="3106125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7550" y="3106125"/>
            <a:ext cx="2797200" cy="20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27600" y="-84850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Analiza </a:t>
            </a:r>
            <a:r>
              <a:rPr b="1" lang="pl" sz="3020"/>
              <a:t>ewolucji</a:t>
            </a:r>
            <a:r>
              <a:rPr b="1" lang="pl" sz="3020"/>
              <a:t> rozkładu Fouriera dla delta=0.5</a:t>
            </a:r>
            <a:endParaRPr b="1" sz="3020"/>
          </a:p>
        </p:txBody>
      </p:sp>
      <p:pic>
        <p:nvPicPr>
          <p:cNvPr id="316" name="Google Shape;31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2"/>
          <p:cNvSpPr txBox="1"/>
          <p:nvPr/>
        </p:nvSpPr>
        <p:spPr>
          <a:xfrm>
            <a:off x="1489400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18" name="Google Shape;318;p42"/>
          <p:cNvSpPr txBox="1"/>
          <p:nvPr/>
        </p:nvSpPr>
        <p:spPr>
          <a:xfrm>
            <a:off x="4468025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19" name="Google Shape;31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2550" y="930350"/>
            <a:ext cx="3207600" cy="20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2676" y="930350"/>
            <a:ext cx="3207600" cy="20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2550" y="3037325"/>
            <a:ext cx="3207600" cy="20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61600" y="3138300"/>
            <a:ext cx="3207600" cy="20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3"/>
          <p:cNvSpPr txBox="1"/>
          <p:nvPr>
            <p:ph type="title"/>
          </p:nvPr>
        </p:nvSpPr>
        <p:spPr>
          <a:xfrm>
            <a:off x="327600" y="-84850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Analiza ewolucji rozkładu fouriera dla delta=0.25</a:t>
            </a:r>
            <a:endParaRPr b="1" sz="3020"/>
          </a:p>
        </p:txBody>
      </p:sp>
      <p:pic>
        <p:nvPicPr>
          <p:cNvPr id="328" name="Google Shape;32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3"/>
          <p:cNvSpPr txBox="1"/>
          <p:nvPr/>
        </p:nvSpPr>
        <p:spPr>
          <a:xfrm>
            <a:off x="1489400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30" name="Google Shape;330;p43"/>
          <p:cNvSpPr txBox="1"/>
          <p:nvPr/>
        </p:nvSpPr>
        <p:spPr>
          <a:xfrm>
            <a:off x="4468025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31" name="Google Shape;33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8300" y="930350"/>
            <a:ext cx="3207600" cy="20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0325" y="930350"/>
            <a:ext cx="3207600" cy="20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98288" y="3037325"/>
            <a:ext cx="3207600" cy="20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60325" y="3138300"/>
            <a:ext cx="3207600" cy="20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4"/>
          <p:cNvSpPr txBox="1"/>
          <p:nvPr>
            <p:ph type="title"/>
          </p:nvPr>
        </p:nvSpPr>
        <p:spPr>
          <a:xfrm>
            <a:off x="327600" y="-127275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Analiza ewolucji rozkładu fouriera dla delta=0.05</a:t>
            </a:r>
            <a:endParaRPr b="1" sz="3020"/>
          </a:p>
        </p:txBody>
      </p:sp>
      <p:pic>
        <p:nvPicPr>
          <p:cNvPr id="340" name="Google Shape;34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4"/>
          <p:cNvSpPr txBox="1"/>
          <p:nvPr/>
        </p:nvSpPr>
        <p:spPr>
          <a:xfrm>
            <a:off x="1489400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42" name="Google Shape;342;p44"/>
          <p:cNvSpPr txBox="1"/>
          <p:nvPr/>
        </p:nvSpPr>
        <p:spPr>
          <a:xfrm>
            <a:off x="4468025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43" name="Google Shape;34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500" y="887925"/>
            <a:ext cx="3207600" cy="20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9401" y="887925"/>
            <a:ext cx="3207600" cy="20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9400" y="3037325"/>
            <a:ext cx="3207600" cy="20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4500" y="3037325"/>
            <a:ext cx="3207600" cy="20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5"/>
          <p:cNvSpPr txBox="1"/>
          <p:nvPr>
            <p:ph type="title"/>
          </p:nvPr>
        </p:nvSpPr>
        <p:spPr>
          <a:xfrm>
            <a:off x="327600" y="-148475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Porównanie </a:t>
            </a:r>
            <a:r>
              <a:rPr b="1" lang="pl" sz="3020"/>
              <a:t>rozkładu fouriera w </a:t>
            </a:r>
            <a:r>
              <a:rPr b="1" lang="pl" sz="3020"/>
              <a:t>chwili</a:t>
            </a:r>
            <a:r>
              <a:rPr b="1" lang="pl" sz="3020"/>
              <a:t> t=4.5 dla rosnącego delta</a:t>
            </a:r>
            <a:endParaRPr b="1" sz="3020"/>
          </a:p>
        </p:txBody>
      </p:sp>
      <p:pic>
        <p:nvPicPr>
          <p:cNvPr id="352" name="Google Shape;35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5"/>
          <p:cNvSpPr txBox="1"/>
          <p:nvPr/>
        </p:nvSpPr>
        <p:spPr>
          <a:xfrm>
            <a:off x="1489400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54" name="Google Shape;354;p45"/>
          <p:cNvSpPr txBox="1"/>
          <p:nvPr/>
        </p:nvSpPr>
        <p:spPr>
          <a:xfrm>
            <a:off x="4468025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55" name="Google Shape;35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75" y="866713"/>
            <a:ext cx="27972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55550" y="892263"/>
            <a:ext cx="27972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863" y="3063400"/>
            <a:ext cx="27972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55550" y="3063400"/>
            <a:ext cx="27972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90100" y="3063400"/>
            <a:ext cx="27972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27450" y="1019125"/>
            <a:ext cx="2522501" cy="189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6"/>
          <p:cNvSpPr txBox="1"/>
          <p:nvPr>
            <p:ph type="title"/>
          </p:nvPr>
        </p:nvSpPr>
        <p:spPr>
          <a:xfrm>
            <a:off x="422675" y="-148475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Porównanie przepływu przez y=0 dla rosnącego delta</a:t>
            </a:r>
            <a:endParaRPr b="1" sz="3020"/>
          </a:p>
        </p:txBody>
      </p:sp>
      <p:pic>
        <p:nvPicPr>
          <p:cNvPr id="366" name="Google Shape;36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6"/>
          <p:cNvSpPr txBox="1"/>
          <p:nvPr/>
        </p:nvSpPr>
        <p:spPr>
          <a:xfrm>
            <a:off x="1489400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68" name="Google Shape;368;p46"/>
          <p:cNvSpPr txBox="1"/>
          <p:nvPr/>
        </p:nvSpPr>
        <p:spPr>
          <a:xfrm>
            <a:off x="4468025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69" name="Google Shape;36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26" y="866713"/>
            <a:ext cx="27972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0626" y="866725"/>
            <a:ext cx="27972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99826" y="866725"/>
            <a:ext cx="27972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3325" y="3012325"/>
            <a:ext cx="27972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99825" y="3012325"/>
            <a:ext cx="2797200" cy="21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50625" y="3012325"/>
            <a:ext cx="2797200" cy="214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/>
          <p:nvPr>
            <p:ph type="title"/>
          </p:nvPr>
        </p:nvSpPr>
        <p:spPr>
          <a:xfrm>
            <a:off x="457200" y="4101991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Szum z rozkładu jednorodnego</a:t>
            </a:r>
            <a:endParaRPr b="1"/>
          </a:p>
        </p:txBody>
      </p:sp>
      <p:sp>
        <p:nvSpPr>
          <p:cNvPr id="380" name="Google Shape;380;p47"/>
          <p:cNvSpPr txBox="1"/>
          <p:nvPr>
            <p:ph idx="1" type="body"/>
          </p:nvPr>
        </p:nvSpPr>
        <p:spPr>
          <a:xfrm>
            <a:off x="8199900" y="4596285"/>
            <a:ext cx="486900" cy="147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25000"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538" y="304800"/>
            <a:ext cx="5062922" cy="3797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8"/>
          <p:cNvSpPr txBox="1"/>
          <p:nvPr>
            <p:ph type="title"/>
          </p:nvPr>
        </p:nvSpPr>
        <p:spPr>
          <a:xfrm>
            <a:off x="261846" y="-120800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Analiza ewolucji przestrzennej wirów w czasie i rozkładu fouriera, delta = 0.5</a:t>
            </a:r>
            <a:endParaRPr b="1" sz="3020"/>
          </a:p>
        </p:txBody>
      </p:sp>
      <p:pic>
        <p:nvPicPr>
          <p:cNvPr id="388" name="Google Shape;38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1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8"/>
          <p:cNvSpPr txBox="1"/>
          <p:nvPr/>
        </p:nvSpPr>
        <p:spPr>
          <a:xfrm>
            <a:off x="1421221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90" name="Google Shape;390;p48"/>
          <p:cNvSpPr txBox="1"/>
          <p:nvPr/>
        </p:nvSpPr>
        <p:spPr>
          <a:xfrm>
            <a:off x="3893046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91" name="Google Shape;391;p48"/>
          <p:cNvSpPr txBox="1"/>
          <p:nvPr/>
        </p:nvSpPr>
        <p:spPr>
          <a:xfrm>
            <a:off x="4399846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92" name="Google Shape;39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0" y="8944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5350" y="8944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24350" y="801163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350" y="3037488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85338" y="30004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24350" y="3000388"/>
            <a:ext cx="2797200" cy="21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type="title"/>
          </p:nvPr>
        </p:nvSpPr>
        <p:spPr>
          <a:xfrm>
            <a:off x="280621" y="-141575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Analiza ewolucji przestrzennej wirów w czasie i rozkładu fouriera, delta = 0.25</a:t>
            </a:r>
            <a:endParaRPr b="1" sz="3020"/>
          </a:p>
        </p:txBody>
      </p:sp>
      <p:pic>
        <p:nvPicPr>
          <p:cNvPr id="403" name="Google Shape;40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1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49"/>
          <p:cNvSpPr txBox="1"/>
          <p:nvPr/>
        </p:nvSpPr>
        <p:spPr>
          <a:xfrm>
            <a:off x="1421221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05" name="Google Shape;405;p49"/>
          <p:cNvSpPr txBox="1"/>
          <p:nvPr/>
        </p:nvSpPr>
        <p:spPr>
          <a:xfrm>
            <a:off x="3893046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06" name="Google Shape;406;p49"/>
          <p:cNvSpPr txBox="1"/>
          <p:nvPr/>
        </p:nvSpPr>
        <p:spPr>
          <a:xfrm>
            <a:off x="4399846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407" name="Google Shape;407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3407" y="81797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625" y="81797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0607" y="81797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0621" y="30375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3396" y="3037488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70596" y="3037500"/>
            <a:ext cx="2797200" cy="21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0"/>
          <p:cNvSpPr txBox="1"/>
          <p:nvPr>
            <p:ph type="title"/>
          </p:nvPr>
        </p:nvSpPr>
        <p:spPr>
          <a:xfrm>
            <a:off x="270496" y="-155625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Analiza ewolucji przestrzennej wirów w czasie, delta = 0.05</a:t>
            </a:r>
            <a:endParaRPr b="1" sz="3020"/>
          </a:p>
        </p:txBody>
      </p:sp>
      <p:pic>
        <p:nvPicPr>
          <p:cNvPr id="418" name="Google Shape;41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1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0"/>
          <p:cNvSpPr txBox="1"/>
          <p:nvPr/>
        </p:nvSpPr>
        <p:spPr>
          <a:xfrm>
            <a:off x="1421221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20" name="Google Shape;420;p50"/>
          <p:cNvSpPr txBox="1"/>
          <p:nvPr/>
        </p:nvSpPr>
        <p:spPr>
          <a:xfrm>
            <a:off x="3893046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21" name="Google Shape;421;p50"/>
          <p:cNvSpPr txBox="1"/>
          <p:nvPr/>
        </p:nvSpPr>
        <p:spPr>
          <a:xfrm>
            <a:off x="4399846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422" name="Google Shape;42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0875" y="859563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7400" y="85957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725" y="80955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733" y="2965563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80871" y="30156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77396" y="2965575"/>
            <a:ext cx="2797200" cy="21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1"/>
          <p:cNvSpPr txBox="1"/>
          <p:nvPr>
            <p:ph type="title"/>
          </p:nvPr>
        </p:nvSpPr>
        <p:spPr>
          <a:xfrm>
            <a:off x="88271" y="-63425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3020"/>
              <a:t>Analiza ewolucji przestrzennej wirów i rozkładu fouriera w czasie, delta = 0.01</a:t>
            </a:r>
            <a:endParaRPr b="1" sz="3020"/>
          </a:p>
        </p:txBody>
      </p:sp>
      <p:pic>
        <p:nvPicPr>
          <p:cNvPr id="433" name="Google Shape;43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1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1"/>
          <p:cNvSpPr txBox="1"/>
          <p:nvPr/>
        </p:nvSpPr>
        <p:spPr>
          <a:xfrm>
            <a:off x="1421221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35" name="Google Shape;435;p51"/>
          <p:cNvSpPr txBox="1"/>
          <p:nvPr/>
        </p:nvSpPr>
        <p:spPr>
          <a:xfrm>
            <a:off x="3893046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36" name="Google Shape;436;p51"/>
          <p:cNvSpPr txBox="1"/>
          <p:nvPr/>
        </p:nvSpPr>
        <p:spPr>
          <a:xfrm>
            <a:off x="4399846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437" name="Google Shape;43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0426" y="8829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1938" y="8829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50" y="8829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271" y="305777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42121" y="305777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5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37796" y="3057763"/>
            <a:ext cx="2797200" cy="21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2"/>
          <p:cNvSpPr txBox="1"/>
          <p:nvPr>
            <p:ph type="title"/>
          </p:nvPr>
        </p:nvSpPr>
        <p:spPr>
          <a:xfrm>
            <a:off x="127271" y="-145500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2800"/>
              <a:t>Porównanie rozkładu </a:t>
            </a:r>
            <a:r>
              <a:rPr b="1" lang="pl" sz="2800"/>
              <a:t>przestrzennego wirów</a:t>
            </a:r>
            <a:r>
              <a:rPr b="1" lang="pl" sz="2800"/>
              <a:t> dla rosnącego delta w chwili t=2.0</a:t>
            </a:r>
            <a:endParaRPr b="1" sz="2800"/>
          </a:p>
        </p:txBody>
      </p:sp>
      <p:pic>
        <p:nvPicPr>
          <p:cNvPr id="448" name="Google Shape;44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1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2"/>
          <p:cNvSpPr txBox="1"/>
          <p:nvPr/>
        </p:nvSpPr>
        <p:spPr>
          <a:xfrm>
            <a:off x="1421221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50" name="Google Shape;450;p52"/>
          <p:cNvSpPr txBox="1"/>
          <p:nvPr/>
        </p:nvSpPr>
        <p:spPr>
          <a:xfrm>
            <a:off x="3893046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51" name="Google Shape;451;p52"/>
          <p:cNvSpPr txBox="1"/>
          <p:nvPr/>
        </p:nvSpPr>
        <p:spPr>
          <a:xfrm>
            <a:off x="4399846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452" name="Google Shape;45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6200" y="29757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0825" y="29757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0825" y="8697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9000" y="29757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26200" y="869688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5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9000" y="869700"/>
            <a:ext cx="2797200" cy="21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3"/>
          <p:cNvSpPr txBox="1"/>
          <p:nvPr>
            <p:ph type="title"/>
          </p:nvPr>
        </p:nvSpPr>
        <p:spPr>
          <a:xfrm>
            <a:off x="53571" y="-141575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2800"/>
              <a:t>Porównanie rozkładu fouriera dla rosnącego delta w chwili t=2.0</a:t>
            </a:r>
            <a:endParaRPr b="1" sz="2800"/>
          </a:p>
        </p:txBody>
      </p:sp>
      <p:pic>
        <p:nvPicPr>
          <p:cNvPr id="463" name="Google Shape;46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1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3"/>
          <p:cNvSpPr txBox="1"/>
          <p:nvPr/>
        </p:nvSpPr>
        <p:spPr>
          <a:xfrm>
            <a:off x="1421221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65" name="Google Shape;465;p53"/>
          <p:cNvSpPr txBox="1"/>
          <p:nvPr/>
        </p:nvSpPr>
        <p:spPr>
          <a:xfrm>
            <a:off x="3893046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66" name="Google Shape;466;p53"/>
          <p:cNvSpPr txBox="1"/>
          <p:nvPr/>
        </p:nvSpPr>
        <p:spPr>
          <a:xfrm>
            <a:off x="4399846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467" name="Google Shape;46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5550" y="30375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3800" y="87362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575" y="87362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5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75550" y="87362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575" y="3037500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73400" y="3113425"/>
            <a:ext cx="2797200" cy="21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4"/>
          <p:cNvSpPr txBox="1"/>
          <p:nvPr>
            <p:ph type="title"/>
          </p:nvPr>
        </p:nvSpPr>
        <p:spPr>
          <a:xfrm>
            <a:off x="307546" y="-187925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pl" sz="2800"/>
              <a:t>Porównanie przepływu przez y=0 dla rosnącego delta</a:t>
            </a:r>
            <a:endParaRPr b="1" sz="2800"/>
          </a:p>
        </p:txBody>
      </p:sp>
      <p:pic>
        <p:nvPicPr>
          <p:cNvPr id="478" name="Google Shape;47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1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4"/>
          <p:cNvSpPr txBox="1"/>
          <p:nvPr/>
        </p:nvSpPr>
        <p:spPr>
          <a:xfrm>
            <a:off x="1421221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80" name="Google Shape;480;p54"/>
          <p:cNvSpPr txBox="1"/>
          <p:nvPr/>
        </p:nvSpPr>
        <p:spPr>
          <a:xfrm>
            <a:off x="3893046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81" name="Google Shape;481;p54"/>
          <p:cNvSpPr txBox="1"/>
          <p:nvPr/>
        </p:nvSpPr>
        <p:spPr>
          <a:xfrm>
            <a:off x="4399846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482" name="Google Shape;482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25" y="82727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3875" y="82727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3775" y="827275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13871" y="2936513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025" y="2936513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73013" y="2936525"/>
            <a:ext cx="2797200" cy="21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5"/>
          <p:cNvSpPr txBox="1"/>
          <p:nvPr>
            <p:ph type="title"/>
          </p:nvPr>
        </p:nvSpPr>
        <p:spPr>
          <a:xfrm>
            <a:off x="317000" y="-297450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2500"/>
              <a:t>Porównanie wyników dla szumu jednorodnego i sinusoidalnego - układów wirów</a:t>
            </a:r>
            <a:endParaRPr b="1" sz="2500"/>
          </a:p>
        </p:txBody>
      </p:sp>
      <p:pic>
        <p:nvPicPr>
          <p:cNvPr id="493" name="Google Shape;49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5"/>
          <p:cNvSpPr txBox="1"/>
          <p:nvPr/>
        </p:nvSpPr>
        <p:spPr>
          <a:xfrm>
            <a:off x="1489400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495" name="Google Shape;495;p55"/>
          <p:cNvSpPr txBox="1"/>
          <p:nvPr/>
        </p:nvSpPr>
        <p:spPr>
          <a:xfrm>
            <a:off x="4468025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496" name="Google Shape;49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3400" y="3015721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4788" y="3015725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000" y="3015725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7000" y="988925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73400" y="988925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5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74788" y="988913"/>
            <a:ext cx="2797200" cy="20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6"/>
          <p:cNvSpPr txBox="1"/>
          <p:nvPr>
            <p:ph type="title"/>
          </p:nvPr>
        </p:nvSpPr>
        <p:spPr>
          <a:xfrm>
            <a:off x="317000" y="-297450"/>
            <a:ext cx="7853100" cy="10152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2500"/>
              <a:t>Porównanie wyników dla szumu jednorodnego i sinusoidalnego - </a:t>
            </a:r>
            <a:r>
              <a:rPr b="1" lang="pl" sz="2500"/>
              <a:t>rozkład</a:t>
            </a:r>
            <a:r>
              <a:rPr b="1" lang="pl" sz="2500"/>
              <a:t> fouriera</a:t>
            </a:r>
            <a:endParaRPr b="1" sz="2500"/>
          </a:p>
        </p:txBody>
      </p:sp>
      <p:pic>
        <p:nvPicPr>
          <p:cNvPr id="507" name="Google Shape;5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1435" y="-12"/>
            <a:ext cx="1362574" cy="512108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6"/>
          <p:cNvSpPr txBox="1"/>
          <p:nvPr/>
        </p:nvSpPr>
        <p:spPr>
          <a:xfrm>
            <a:off x="1489400" y="4693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509" name="Google Shape;509;p56"/>
          <p:cNvSpPr txBox="1"/>
          <p:nvPr/>
        </p:nvSpPr>
        <p:spPr>
          <a:xfrm>
            <a:off x="4468025" y="4065025"/>
            <a:ext cx="12798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510" name="Google Shape;51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500" y="3015750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50971" y="813738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7000" y="3015713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66600" y="853338"/>
            <a:ext cx="2797200" cy="20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350" y="3015738"/>
            <a:ext cx="2797200" cy="210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350" y="813738"/>
            <a:ext cx="2797200" cy="21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7"/>
          <p:cNvSpPr txBox="1"/>
          <p:nvPr>
            <p:ph type="title"/>
          </p:nvPr>
        </p:nvSpPr>
        <p:spPr>
          <a:xfrm>
            <a:off x="457200" y="-52559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l"/>
              <a:t>Wnioski</a:t>
            </a:r>
            <a:endParaRPr b="1"/>
          </a:p>
        </p:txBody>
      </p:sp>
      <p:sp>
        <p:nvSpPr>
          <p:cNvPr id="521" name="Google Shape;521;p57"/>
          <p:cNvSpPr txBox="1"/>
          <p:nvPr>
            <p:ph idx="1" type="body"/>
          </p:nvPr>
        </p:nvSpPr>
        <p:spPr>
          <a:xfrm>
            <a:off x="457200" y="73436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58775" lvl="0" marL="457200" rtl="0" algn="l">
              <a:spcBef>
                <a:spcPts val="300"/>
              </a:spcBef>
              <a:spcAft>
                <a:spcPts val="0"/>
              </a:spcAft>
              <a:buSzPts val="2050"/>
              <a:buChar char="-"/>
            </a:pPr>
            <a:r>
              <a:rPr lang="pl" sz="2050"/>
              <a:t>udało się uzyskać numerycznie </a:t>
            </a:r>
            <a:r>
              <a:rPr lang="pl" sz="2050"/>
              <a:t>symulacje</a:t>
            </a:r>
            <a:r>
              <a:rPr lang="pl" sz="2050"/>
              <a:t> </a:t>
            </a:r>
            <a:r>
              <a:rPr lang="pl" sz="2050"/>
              <a:t>niestabilności</a:t>
            </a:r>
            <a:endParaRPr sz="2050"/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SzPts val="2050"/>
              <a:buChar char="-"/>
            </a:pPr>
            <a:r>
              <a:rPr lang="pl" sz="2050"/>
              <a:t>parametr regularyzacji (δ) kontroluje rozmiar i czas powstawania wirów</a:t>
            </a:r>
            <a:endParaRPr sz="2050"/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SzPts val="2050"/>
              <a:buChar char="-"/>
            </a:pPr>
            <a:r>
              <a:rPr lang="pl" sz="2050"/>
              <a:t>rozkład Fouriera odzwierciedla własności geometryczne układu wirów</a:t>
            </a:r>
            <a:endParaRPr sz="2050"/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SzPts val="2050"/>
              <a:buChar char="-"/>
            </a:pPr>
            <a:r>
              <a:rPr lang="pl" sz="2050"/>
              <a:t>dla mniejszego δ powstaje silna </a:t>
            </a:r>
            <a:r>
              <a:rPr lang="pl" sz="2050"/>
              <a:t>obwiednia</a:t>
            </a:r>
            <a:r>
              <a:rPr lang="pl" sz="2050"/>
              <a:t> widoczna na spektrum energii</a:t>
            </a:r>
            <a:endParaRPr sz="2050"/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SzPts val="2050"/>
              <a:buChar char="-"/>
            </a:pPr>
            <a:r>
              <a:rPr lang="pl" sz="2050"/>
              <a:t>przepływ rośnie w czasie liniowo dla zaburzenia sinusoidalnego</a:t>
            </a:r>
            <a:endParaRPr sz="2050"/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SzPts val="2050"/>
              <a:buChar char="-"/>
            </a:pPr>
            <a:r>
              <a:rPr lang="pl" sz="2050"/>
              <a:t>przepływ rośnie w czasie liniowo z odchylaniem od </a:t>
            </a:r>
            <a:r>
              <a:rPr lang="pl" sz="2050"/>
              <a:t>liniowości</a:t>
            </a:r>
            <a:r>
              <a:rPr lang="pl" sz="2050"/>
              <a:t> dla </a:t>
            </a:r>
            <a:r>
              <a:rPr lang="pl" sz="2050"/>
              <a:t>rosnącego</a:t>
            </a:r>
            <a:r>
              <a:rPr lang="pl" sz="2050"/>
              <a:t> δ dla szumu</a:t>
            </a:r>
            <a:endParaRPr sz="2050"/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SzPts val="2050"/>
              <a:buChar char="-"/>
            </a:pPr>
            <a:r>
              <a:rPr lang="pl" sz="2050"/>
              <a:t>początkowe zaburzenie ma  silny wpływ na </a:t>
            </a:r>
            <a:r>
              <a:rPr lang="pl" sz="2050"/>
              <a:t>własności</a:t>
            </a:r>
            <a:r>
              <a:rPr lang="pl" sz="2050"/>
              <a:t> powstających wirów</a:t>
            </a:r>
            <a:endParaRPr sz="2050"/>
          </a:p>
          <a:p>
            <a:pPr indent="-358775" lvl="0" marL="457200" rtl="0" algn="l">
              <a:spcBef>
                <a:spcPts val="0"/>
              </a:spcBef>
              <a:spcAft>
                <a:spcPts val="0"/>
              </a:spcAft>
              <a:buSzPts val="2050"/>
              <a:buChar char="-"/>
            </a:pPr>
            <a:r>
              <a:rPr lang="pl" sz="2050"/>
              <a:t>przepływ dla szumu jest </a:t>
            </a:r>
            <a:r>
              <a:rPr lang="pl" sz="2050"/>
              <a:t>mniejszy</a:t>
            </a:r>
            <a:r>
              <a:rPr lang="pl" sz="2050"/>
              <a:t> niż dla zaburzenia sinusoidalnego</a:t>
            </a:r>
            <a:endParaRPr sz="2050"/>
          </a:p>
        </p:txBody>
      </p:sp>
      <p:pic>
        <p:nvPicPr>
          <p:cNvPr id="522" name="Google Shape;52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0575" y="0"/>
            <a:ext cx="1153425" cy="4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8"/>
          <p:cNvSpPr txBox="1"/>
          <p:nvPr>
            <p:ph type="title"/>
          </p:nvPr>
        </p:nvSpPr>
        <p:spPr>
          <a:xfrm>
            <a:off x="457200" y="528066"/>
            <a:ext cx="8229600" cy="857400"/>
          </a:xfrm>
          <a:prstGeom prst="rect">
            <a:avLst/>
          </a:prstGeom>
        </p:spPr>
        <p:txBody>
          <a:bodyPr anchorCtr="0" anchor="b" bIns="0" lIns="0" spcFirstLastPara="1" rIns="0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l"/>
              <a:t>Bibliografia</a:t>
            </a:r>
            <a:endParaRPr b="1"/>
          </a:p>
        </p:txBody>
      </p:sp>
      <p:sp>
        <p:nvSpPr>
          <p:cNvPr id="528" name="Google Shape;528;p58"/>
          <p:cNvSpPr txBox="1"/>
          <p:nvPr>
            <p:ph idx="1" type="body"/>
          </p:nvPr>
        </p:nvSpPr>
        <p:spPr>
          <a:xfrm>
            <a:off x="457200" y="1451610"/>
            <a:ext cx="8229600" cy="329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l"/>
              <a:t>[1] Robert Krasny (1986), Journal of Computational Physics 65, 292-3 13 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/>
              <a:t>Desingularization of Periodic Vortex Sheet Roll-up*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l"/>
              <a:t>[2] </a:t>
            </a:r>
            <a:r>
              <a:rPr lang="pl"/>
              <a:t>Vladimir Parezanovic (2014), Flow low, Turbulence and Combustion 94, 155-173,</a:t>
            </a:r>
            <a:r>
              <a:rPr lang="pl"/>
              <a:t> “Mixing Layer Manipulation Experiment”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l"/>
              <a:t>-https://en.wikipedia.org/wiki/Kelvin%E2%80%93Helmholtz_instability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pl"/>
              <a:t>(data dostępu 31.05.2024)</a:t>
            </a:r>
            <a:endParaRPr/>
          </a:p>
        </p:txBody>
      </p:sp>
      <p:pic>
        <p:nvPicPr>
          <p:cNvPr id="529" name="Google Shape;52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90575" y="0"/>
            <a:ext cx="1153425" cy="4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9"/>
          <p:cNvSpPr txBox="1"/>
          <p:nvPr>
            <p:ph type="ctrTitle"/>
          </p:nvPr>
        </p:nvSpPr>
        <p:spPr>
          <a:xfrm>
            <a:off x="-215153" y="1344706"/>
            <a:ext cx="785164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370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entury Gothic"/>
              <a:buNone/>
            </a:pPr>
            <a:r>
              <a:rPr lang="pl"/>
              <a:t>Dziękuje za uwagę :)</a:t>
            </a:r>
            <a:endParaRPr/>
          </a:p>
        </p:txBody>
      </p:sp>
      <p:pic>
        <p:nvPicPr>
          <p:cNvPr id="535" name="Google Shape;53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21" y="3343275"/>
            <a:ext cx="2045525" cy="77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5725" y="3258163"/>
            <a:ext cx="2407025" cy="9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ezentacja dotycząca burzy mózgów">
  <a:themeElements>
    <a:clrScheme name="Gree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