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  <p:embeddedFont>
      <p:font typeface="Nunito"/>
      <p:regular r:id="rId41"/>
      <p:bold r:id="rId42"/>
      <p:italic r:id="rId43"/>
      <p:boldItalic r:id="rId44"/>
    </p:embeddedFont>
    <p:embeddedFont>
      <p:font typeface="Palatino Linotype"/>
      <p:regular r:id="rId45"/>
      <p:bold r:id="rId46"/>
      <p:italic r:id="rId47"/>
      <p:boldItalic r:id="rId48"/>
    </p:embeddedFont>
    <p:embeddedFont>
      <p:font typeface="Century Gothic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ichał Suchorowsk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42" Type="http://schemas.openxmlformats.org/officeDocument/2006/relationships/font" Target="fonts/Nunito-bold.fntdata"/><Relationship Id="rId41" Type="http://schemas.openxmlformats.org/officeDocument/2006/relationships/font" Target="fonts/Nunito-regular.fntdata"/><Relationship Id="rId44" Type="http://schemas.openxmlformats.org/officeDocument/2006/relationships/font" Target="fonts/Nunito-boldItalic.fntdata"/><Relationship Id="rId43" Type="http://schemas.openxmlformats.org/officeDocument/2006/relationships/font" Target="fonts/Nunito-italic.fntdata"/><Relationship Id="rId46" Type="http://schemas.openxmlformats.org/officeDocument/2006/relationships/font" Target="fonts/PalatinoLinotype-bold.fntdata"/><Relationship Id="rId45" Type="http://schemas.openxmlformats.org/officeDocument/2006/relationships/font" Target="fonts/PalatinoLinotype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48" Type="http://schemas.openxmlformats.org/officeDocument/2006/relationships/font" Target="fonts/PalatinoLinotype-boldItalic.fntdata"/><Relationship Id="rId47" Type="http://schemas.openxmlformats.org/officeDocument/2006/relationships/font" Target="fonts/PalatinoLinotype-italic.fntdata"/><Relationship Id="rId49" Type="http://schemas.openxmlformats.org/officeDocument/2006/relationships/font" Target="fonts/CenturyGothic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font" Target="fonts/Roboto-regular.fntdata"/><Relationship Id="rId36" Type="http://schemas.openxmlformats.org/officeDocument/2006/relationships/slide" Target="slides/slide29.xml"/><Relationship Id="rId39" Type="http://schemas.openxmlformats.org/officeDocument/2006/relationships/font" Target="fonts/Roboto-italic.fntdata"/><Relationship Id="rId38" Type="http://schemas.openxmlformats.org/officeDocument/2006/relationships/font" Target="fonts/Roboto-bold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CenturyGothic-italic.fntdata"/><Relationship Id="rId50" Type="http://schemas.openxmlformats.org/officeDocument/2006/relationships/font" Target="fonts/CenturyGothic-bold.fntdata"/><Relationship Id="rId52" Type="http://schemas.openxmlformats.org/officeDocument/2006/relationships/font" Target="fonts/CenturyGothic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09-15T14:09:19.446">
    <p:pos x="533" y="1620"/>
    <p:text>Użyjcie nowego logo Wydziału :)
https://www.fuw.edu.pl/logo_fuw.html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7f0f6033c2_2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27f0f6033c2_2_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27f0f6033c2_2_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7f0f6033c2_2_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27f0f6033c2_2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7f0f6033c2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7f0f6033c2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7f0f6033c2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7f0f6033c2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7f0f6033c2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7f0f6033c2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7f0f6033c2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7f0f6033c2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7f0f6033c2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7f0f6033c2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7f0f6037b5_5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7f0f6037b5_5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7f0f6037b5_5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7f0f6037b5_5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7f0f6037b5_5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7f0f6037b5_5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7f0f6037b5_5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7f0f6037b5_5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7f0f6033c2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7f0f6033c2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7f0f6033c2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7f0f6033c2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7f0f6033c2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7f0f6033c2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7232a7436383b7f3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7232a7436383b7f3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7f0f6033c2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7f0f6033c2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7f0f6033c2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7f0f6033c2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7f0f6033c2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7f0f6033c2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7f0f6033c2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7f0f6033c2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7f0f6033c2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7f0f6033c2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7f0f6033c2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7f0f6033c2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7232a7436383b7f3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7232a7436383b7f3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7232a7436383b7f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7232a7436383b7f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7232a7436383b7f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7232a7436383b7f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7232a7436383b7f3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7232a7436383b7f3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7232a7436383b7f3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7232a7436383b7f3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7232a7436383b7f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7232a7436383b7f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7232a7436383b7f3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7232a7436383b7f3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7f0f6033c2_2_1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27f0f6033c2_2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4"/>
          <p:cNvGrpSpPr/>
          <p:nvPr/>
        </p:nvGrpSpPr>
        <p:grpSpPr>
          <a:xfrm>
            <a:off x="0" y="4656671"/>
            <a:ext cx="9144000" cy="486829"/>
            <a:chOff x="0" y="6208894"/>
            <a:chExt cx="12192000" cy="649106"/>
          </a:xfrm>
        </p:grpSpPr>
        <p:sp>
          <p:nvSpPr>
            <p:cNvPr id="140" name="Google Shape;140;p14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gradFill>
              <a:gsLst>
                <a:gs pos="0">
                  <a:srgbClr val="DCE5A3"/>
                </a:gs>
                <a:gs pos="50000">
                  <a:srgbClr val="D6E095"/>
                </a:gs>
                <a:gs pos="100000">
                  <a:srgbClr val="D4DF8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cxnSp>
          <p:nvCxnSpPr>
            <p:cNvPr id="141" name="Google Shape;141;p14"/>
            <p:cNvCxnSpPr/>
            <p:nvPr/>
          </p:nvCxnSpPr>
          <p:spPr>
            <a:xfrm>
              <a:off x="0" y="6208894"/>
              <a:ext cx="12192000" cy="0"/>
            </a:xfrm>
            <a:prstGeom prst="straightConnector1">
              <a:avLst/>
            </a:prstGeom>
            <a:noFill/>
            <a:ln cap="flat" cmpd="sng" w="127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42" name="Google Shape;142;p14"/>
          <p:cNvCxnSpPr/>
          <p:nvPr/>
        </p:nvCxnSpPr>
        <p:spPr>
          <a:xfrm flipH="1" rot="10800000">
            <a:off x="2286" y="4453467"/>
            <a:ext cx="6181" cy="42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" name="Google Shape;143;p14"/>
          <p:cNvCxnSpPr/>
          <p:nvPr/>
        </p:nvCxnSpPr>
        <p:spPr>
          <a:xfrm flipH="1" rot="10800000">
            <a:off x="2286" y="4453467"/>
            <a:ext cx="6181" cy="42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14"/>
          <p:cNvSpPr txBox="1"/>
          <p:nvPr>
            <p:ph type="ctrTitle"/>
          </p:nvPr>
        </p:nvSpPr>
        <p:spPr>
          <a:xfrm>
            <a:off x="533400" y="1028700"/>
            <a:ext cx="78516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370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entury Gothic"/>
              <a:buNone/>
              <a:defRPr b="1" sz="42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14"/>
          <p:cNvSpPr txBox="1"/>
          <p:nvPr>
            <p:ph idx="1" type="subTitle"/>
          </p:nvPr>
        </p:nvSpPr>
        <p:spPr>
          <a:xfrm>
            <a:off x="533400" y="2421402"/>
            <a:ext cx="7854696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13700" wrap="square" tIns="34275">
            <a:normAutofit/>
          </a:bodyPr>
          <a:lstStyle>
            <a:lvl1pPr lvl="0" marR="38100" algn="r">
              <a:spcBef>
                <a:spcPts val="400"/>
              </a:spcBef>
              <a:spcAft>
                <a:spcPts val="0"/>
              </a:spcAft>
              <a:buSzPts val="19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457200" y="145161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algn="l">
              <a:spcBef>
                <a:spcPts val="300"/>
              </a:spcBef>
              <a:spcAft>
                <a:spcPts val="0"/>
              </a:spcAft>
              <a:buSzPts val="1300"/>
              <a:buChar char="⚫"/>
              <a:defRPr/>
            </a:lvl1pPr>
            <a:lvl2pPr indent="-298450" lvl="1" marL="914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2pPr>
            <a:lvl3pPr indent="-285750" lvl="2" marL="13716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3pPr>
            <a:lvl4pPr indent="-285750" lvl="3" marL="18288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4pPr>
            <a:lvl5pPr indent="-285750" lvl="4" marL="22860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15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457200" y="1440064"/>
            <a:ext cx="4038600" cy="33261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9250" lvl="0" marL="457200" algn="l">
              <a:spcBef>
                <a:spcPts val="400"/>
              </a:spcBef>
              <a:spcAft>
                <a:spcPts val="0"/>
              </a:spcAft>
              <a:buSzPts val="1900"/>
              <a:buChar char="⚫"/>
              <a:defRPr sz="20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⚫"/>
              <a:defRPr sz="1800"/>
            </a:lvl2pPr>
            <a:lvl3pPr indent="-298450" lvl="2" marL="13716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 sz="1500"/>
            </a:lvl3pPr>
            <a:lvl4pPr indent="-285750" lvl="3" marL="18288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 sz="1400"/>
            </a:lvl4pPr>
            <a:lvl5pPr indent="-285750" lvl="4" marL="22860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 sz="14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6"/>
          <p:cNvSpPr txBox="1"/>
          <p:nvPr>
            <p:ph idx="2" type="body"/>
          </p:nvPr>
        </p:nvSpPr>
        <p:spPr>
          <a:xfrm>
            <a:off x="4648200" y="1440064"/>
            <a:ext cx="4038600" cy="33261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9250" lvl="0" marL="457200" algn="l">
              <a:spcBef>
                <a:spcPts val="400"/>
              </a:spcBef>
              <a:spcAft>
                <a:spcPts val="0"/>
              </a:spcAft>
              <a:buSzPts val="1900"/>
              <a:buChar char="⚫"/>
              <a:defRPr sz="20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⚫"/>
              <a:defRPr sz="1800"/>
            </a:lvl2pPr>
            <a:lvl3pPr indent="-298450" lvl="2" marL="13716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 sz="1500"/>
            </a:lvl3pPr>
            <a:lvl4pPr indent="-285750" lvl="3" marL="18288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 sz="1400"/>
            </a:lvl4pPr>
            <a:lvl5pPr indent="-285750" lvl="4" marL="22860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 sz="14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16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530352" y="987552"/>
            <a:ext cx="7772400" cy="10218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entury Gothic"/>
              <a:buNone/>
              <a:defRPr b="1" sz="4200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530352" y="2028498"/>
            <a:ext cx="7772400" cy="11322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7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8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100">
                <a:solidFill>
                  <a:srgbClr val="888888"/>
                </a:solidFill>
              </a:defRPr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17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17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457200" y="1391436"/>
            <a:ext cx="4040188" cy="494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4275" spcFirstLastPara="1" rIns="34275" wrap="square" tIns="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1800" cap="none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3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9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8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800"/>
              <a:buNone/>
              <a:defRPr b="1" sz="12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8"/>
          <p:cNvSpPr txBox="1"/>
          <p:nvPr>
            <p:ph idx="2" type="body"/>
          </p:nvPr>
        </p:nvSpPr>
        <p:spPr>
          <a:xfrm>
            <a:off x="457200" y="1885950"/>
            <a:ext cx="4040188" cy="28842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SzPts val="1600"/>
              <a:buChar char="⚫"/>
              <a:defRPr sz="17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SzPts val="1300"/>
              <a:buChar char="⚫"/>
              <a:defRPr sz="1500"/>
            </a:lvl2pPr>
            <a:lvl3pPr indent="-285750" lvl="2" marL="13716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 sz="14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SzPts val="800"/>
              <a:buChar char="⚫"/>
              <a:defRPr sz="12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SzPts val="800"/>
              <a:buChar char="⚫"/>
              <a:defRPr sz="12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8"/>
          <p:cNvSpPr txBox="1"/>
          <p:nvPr>
            <p:ph idx="3" type="body"/>
          </p:nvPr>
        </p:nvSpPr>
        <p:spPr>
          <a:xfrm>
            <a:off x="4645026" y="1394819"/>
            <a:ext cx="4041775" cy="491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4275" spcFirstLastPara="1" rIns="34275" wrap="square" tIns="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1800" cap="none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3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9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8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800"/>
              <a:buNone/>
              <a:defRPr b="1" sz="12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8"/>
          <p:cNvSpPr txBox="1"/>
          <p:nvPr>
            <p:ph idx="4" type="body"/>
          </p:nvPr>
        </p:nvSpPr>
        <p:spPr>
          <a:xfrm>
            <a:off x="4645026" y="1885950"/>
            <a:ext cx="4041775" cy="28842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SzPts val="1600"/>
              <a:buChar char="⚫"/>
              <a:defRPr sz="17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SzPts val="1300"/>
              <a:buChar char="⚫"/>
              <a:defRPr sz="1500"/>
            </a:lvl2pPr>
            <a:lvl3pPr indent="-285750" lvl="2" marL="13716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 sz="14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SzPts val="800"/>
              <a:buChar char="⚫"/>
              <a:defRPr sz="12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SzPts val="800"/>
              <a:buChar char="⚫"/>
              <a:defRPr sz="12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18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18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457200" y="528066"/>
            <a:ext cx="8305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Century Gothic"/>
              <a:buNone/>
              <a:defRPr b="0" sz="3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19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20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20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685800" y="385764"/>
            <a:ext cx="2743200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entury Gothic"/>
              <a:buNone/>
              <a:defRPr b="0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3575050" y="1257300"/>
            <a:ext cx="511175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⚫"/>
              <a:defRPr sz="21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1800"/>
            </a:lvl3pPr>
            <a:lvl4pPr indent="-292100" lvl="3" marL="1828800" algn="l">
              <a:spcBef>
                <a:spcPts val="300"/>
              </a:spcBef>
              <a:spcAft>
                <a:spcPts val="0"/>
              </a:spcAft>
              <a:buSzPts val="1000"/>
              <a:buChar char="⚫"/>
              <a:defRPr sz="1500"/>
            </a:lvl4pPr>
            <a:lvl5pPr indent="-285750" lvl="4" marL="22860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 sz="14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1"/>
          <p:cNvSpPr txBox="1"/>
          <p:nvPr>
            <p:ph idx="2" type="body"/>
          </p:nvPr>
        </p:nvSpPr>
        <p:spPr>
          <a:xfrm>
            <a:off x="685800" y="1257300"/>
            <a:ext cx="2743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3700" spcFirstLastPara="1" rIns="13700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SzPts val="4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SzPts val="400"/>
              <a:buNone/>
              <a:defRPr sz="7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21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21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showMasterSp="0" type="picTx">
  <p:cSld name="PICTURE_WITH_CAPTION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/>
          <p:nvPr/>
        </p:nvSpPr>
        <p:spPr>
          <a:xfrm flipH="1" rot="-10380000">
            <a:off x="3165753" y="831058"/>
            <a:ext cx="5257800" cy="30861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95" name="Google Shape;195;p22"/>
          <p:cNvSpPr/>
          <p:nvPr/>
        </p:nvSpPr>
        <p:spPr>
          <a:xfrm flipH="1" rot="-10380000">
            <a:off x="8004134" y="4019827"/>
            <a:ext cx="155448" cy="116586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609600" y="882748"/>
            <a:ext cx="2212848" cy="118696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entury Gothic"/>
              <a:buNone/>
              <a:defRPr b="1" sz="15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Pusty symbol zastępczy pozwalający dodać obraz. Kliknij symbol zastępczy i wybierz obraz, który chcesz dodać" id="197" name="Google Shape;197;p22"/>
          <p:cNvSpPr/>
          <p:nvPr>
            <p:ph idx="2" type="pic"/>
          </p:nvPr>
        </p:nvSpPr>
        <p:spPr>
          <a:xfrm rot="420000">
            <a:off x="3485793" y="899638"/>
            <a:ext cx="4617720" cy="294894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609600" y="2121589"/>
            <a:ext cx="220980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8000" spcFirstLastPara="1" rIns="342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SzPts val="900"/>
              <a:buFont typeface="Palatino Linotype"/>
              <a:buNone/>
              <a:defRPr sz="1000"/>
            </a:lvl1pPr>
            <a:lvl2pPr indent="-279400" lvl="1" marL="914400" algn="l">
              <a:spcBef>
                <a:spcPts val="200"/>
              </a:spcBef>
              <a:spcAft>
                <a:spcPts val="0"/>
              </a:spcAft>
              <a:buSzPts val="800"/>
              <a:buChar char="⚫"/>
              <a:defRPr sz="900"/>
            </a:lvl2pPr>
            <a:lvl3pPr indent="-260350" lvl="2" marL="1371600" algn="l">
              <a:spcBef>
                <a:spcPts val="200"/>
              </a:spcBef>
              <a:spcAft>
                <a:spcPts val="0"/>
              </a:spcAft>
              <a:buSzPts val="500"/>
              <a:buChar char="⚫"/>
              <a:defRPr sz="800"/>
            </a:lvl3pPr>
            <a:lvl4pPr indent="-254000" lvl="3" marL="1828800" algn="l">
              <a:spcBef>
                <a:spcPts val="100"/>
              </a:spcBef>
              <a:spcAft>
                <a:spcPts val="0"/>
              </a:spcAft>
              <a:buSzPts val="400"/>
              <a:buChar char="⚫"/>
              <a:defRPr sz="700"/>
            </a:lvl4pPr>
            <a:lvl5pPr indent="-254000" lvl="4" marL="2286000" algn="l">
              <a:spcBef>
                <a:spcPts val="100"/>
              </a:spcBef>
              <a:spcAft>
                <a:spcPts val="0"/>
              </a:spcAft>
              <a:buSzPts val="400"/>
              <a:buChar char="⚫"/>
              <a:defRPr sz="7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22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1" name="Google Shape;201;p22"/>
          <p:cNvSpPr txBox="1"/>
          <p:nvPr>
            <p:ph idx="12" type="sldNum"/>
          </p:nvPr>
        </p:nvSpPr>
        <p:spPr>
          <a:xfrm>
            <a:off x="8077200" y="4767263"/>
            <a:ext cx="609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sp>
        <p:nvSpPr>
          <p:cNvPr id="202" name="Google Shape;202;p22"/>
          <p:cNvSpPr/>
          <p:nvPr/>
        </p:nvSpPr>
        <p:spPr>
          <a:xfrm flipH="1" rot="10800000">
            <a:off x="-9525" y="4362450"/>
            <a:ext cx="9163050" cy="78105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668F1B">
                  <a:alpha val="44705"/>
                </a:srgbClr>
              </a:gs>
              <a:gs pos="100000">
                <a:srgbClr val="CAE00E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03" name="Google Shape;203;p22"/>
          <p:cNvSpPr/>
          <p:nvPr/>
        </p:nvSpPr>
        <p:spPr>
          <a:xfrm flipH="1" rot="10800000">
            <a:off x="4381500" y="4664870"/>
            <a:ext cx="4762500" cy="478631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99A719">
                  <a:alpha val="29803"/>
                </a:srgbClr>
              </a:gs>
              <a:gs pos="80000">
                <a:srgbClr val="80B814">
                  <a:alpha val="44705"/>
                </a:srgbClr>
              </a:gs>
              <a:gs pos="100000">
                <a:srgbClr val="80B81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6" name="Google Shape;206;p23"/>
          <p:cNvSpPr txBox="1"/>
          <p:nvPr>
            <p:ph idx="1" type="body"/>
          </p:nvPr>
        </p:nvSpPr>
        <p:spPr>
          <a:xfrm rot="5400000">
            <a:off x="2926080" y="-1017270"/>
            <a:ext cx="329184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algn="l">
              <a:spcBef>
                <a:spcPts val="300"/>
              </a:spcBef>
              <a:spcAft>
                <a:spcPts val="0"/>
              </a:spcAft>
              <a:buSzPts val="1300"/>
              <a:buChar char="⚫"/>
              <a:defRPr/>
            </a:lvl1pPr>
            <a:lvl2pPr indent="-298450" lvl="1" marL="914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2pPr>
            <a:lvl3pPr indent="-285750" lvl="2" marL="13716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3pPr>
            <a:lvl4pPr indent="-285750" lvl="3" marL="18288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4pPr>
            <a:lvl5pPr indent="-285750" lvl="4" marL="22860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9" name="Google Shape;209;p23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type="title"/>
          </p:nvPr>
        </p:nvSpPr>
        <p:spPr>
          <a:xfrm rot="5400000">
            <a:off x="5703689" y="1611513"/>
            <a:ext cx="390882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2" name="Google Shape;212;p24"/>
          <p:cNvSpPr txBox="1"/>
          <p:nvPr>
            <p:ph idx="1" type="body"/>
          </p:nvPr>
        </p:nvSpPr>
        <p:spPr>
          <a:xfrm rot="5400000">
            <a:off x="1512689" y="-369687"/>
            <a:ext cx="3908822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algn="l">
              <a:spcBef>
                <a:spcPts val="300"/>
              </a:spcBef>
              <a:spcAft>
                <a:spcPts val="0"/>
              </a:spcAft>
              <a:buSzPts val="1300"/>
              <a:buChar char="⚫"/>
              <a:defRPr/>
            </a:lvl1pPr>
            <a:lvl2pPr indent="-298450" lvl="1" marL="914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2pPr>
            <a:lvl3pPr indent="-285750" lvl="2" marL="13716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3pPr>
            <a:lvl4pPr indent="-285750" lvl="3" marL="18288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4pPr>
            <a:lvl5pPr indent="-285750" lvl="4" marL="22860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24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5" name="Google Shape;215;p24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3"/>
          <p:cNvGrpSpPr/>
          <p:nvPr/>
        </p:nvGrpSpPr>
        <p:grpSpPr>
          <a:xfrm>
            <a:off x="-32048" y="-12085"/>
            <a:ext cx="9198255" cy="5166470"/>
            <a:chOff x="-13703" y="-30627"/>
            <a:chExt cx="12264340" cy="6888627"/>
          </a:xfrm>
        </p:grpSpPr>
        <p:sp>
          <p:nvSpPr>
            <p:cNvPr id="126" name="Google Shape;126;p13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grpSp>
          <p:nvGrpSpPr>
            <p:cNvPr id="127" name="Google Shape;127;p13"/>
            <p:cNvGrpSpPr/>
            <p:nvPr/>
          </p:nvGrpSpPr>
          <p:grpSpPr>
            <a:xfrm>
              <a:off x="-13703" y="-30627"/>
              <a:ext cx="12264340" cy="1086266"/>
              <a:chOff x="-39059" y="-16113"/>
              <a:chExt cx="12264340" cy="1086266"/>
            </a:xfrm>
          </p:grpSpPr>
          <p:sp>
            <p:nvSpPr>
              <p:cNvPr id="128" name="Google Shape;128;p13"/>
              <p:cNvSpPr/>
              <p:nvPr/>
            </p:nvSpPr>
            <p:spPr>
              <a:xfrm>
                <a:off x="-12700" y="-7144"/>
                <a:ext cx="12217400" cy="1041400"/>
              </a:xfrm>
              <a:custGeom>
                <a:rect b="b" l="l" r="r" t="t"/>
                <a:pathLst>
                  <a:path extrusionOk="0" h="656" w="5772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rgbClr val="668F1B">
                      <a:alpha val="44705"/>
                    </a:srgbClr>
                  </a:gs>
                  <a:gs pos="100000">
                    <a:srgbClr val="CAE00E">
                      <a:alpha val="54901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Palatino Linotype"/>
                  <a:ea typeface="Palatino Linotype"/>
                  <a:cs typeface="Palatino Linotype"/>
                  <a:sym typeface="Palatino Linotype"/>
                </a:endParaRPr>
              </a:p>
            </p:txBody>
          </p:sp>
          <p:sp>
            <p:nvSpPr>
              <p:cNvPr id="129" name="Google Shape;129;p13"/>
              <p:cNvSpPr/>
              <p:nvPr/>
            </p:nvSpPr>
            <p:spPr>
              <a:xfrm>
                <a:off x="5842000" y="-7144"/>
                <a:ext cx="6350000" cy="638175"/>
              </a:xfrm>
              <a:custGeom>
                <a:rect b="b" l="l" r="r" t="t"/>
                <a:pathLst>
                  <a:path extrusionOk="0" h="595" w="3000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A719">
                      <a:alpha val="29803"/>
                    </a:srgbClr>
                  </a:gs>
                  <a:gs pos="80000">
                    <a:srgbClr val="80B814">
                      <a:alpha val="44705"/>
                    </a:srgbClr>
                  </a:gs>
                  <a:gs pos="100000">
                    <a:srgbClr val="80B814">
                      <a:alpha val="44705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Palatino Linotype"/>
                  <a:ea typeface="Palatino Linotype"/>
                  <a:cs typeface="Palatino Linotype"/>
                  <a:sym typeface="Palatino Linotype"/>
                </a:endParaRPr>
              </a:p>
            </p:txBody>
          </p:sp>
          <p:grpSp>
            <p:nvGrpSpPr>
              <p:cNvPr id="130" name="Google Shape;130;p13"/>
              <p:cNvGrpSpPr/>
              <p:nvPr/>
            </p:nvGrpSpPr>
            <p:grpSpPr>
              <a:xfrm>
                <a:off x="-39059" y="-16113"/>
                <a:ext cx="12264340" cy="1086266"/>
                <a:chOff x="-29322" y="-1971"/>
                <a:chExt cx="9198255" cy="1086266"/>
              </a:xfrm>
            </p:grpSpPr>
            <p:sp>
              <p:nvSpPr>
                <p:cNvPr id="131" name="Google Shape;131;p13"/>
                <p:cNvSpPr/>
                <p:nvPr/>
              </p:nvSpPr>
              <p:spPr>
                <a:xfrm rot="-164308">
                  <a:off x="-19045" y="216550"/>
                  <a:ext cx="9163050" cy="649224"/>
                </a:xfrm>
                <a:custGeom>
                  <a:rect b="b" l="l" r="r" t="t"/>
                  <a:pathLst>
                    <a:path extrusionOk="0" h="1055" w="5772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cap="flat" cmpd="sng" w="10775">
                  <a:solidFill>
                    <a:srgbClr val="A8B53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Palatino Linotype"/>
                    <a:ea typeface="Palatino Linotype"/>
                    <a:cs typeface="Palatino Linotype"/>
                    <a:sym typeface="Palatino Linotype"/>
                  </a:endParaRPr>
                </a:p>
              </p:txBody>
            </p:sp>
            <p:sp>
              <p:nvSpPr>
                <p:cNvPr id="132" name="Google Shape;132;p13"/>
                <p:cNvSpPr/>
                <p:nvPr/>
              </p:nvSpPr>
              <p:spPr>
                <a:xfrm rot="-164308">
                  <a:off x="-14309" y="290003"/>
                  <a:ext cx="9175812" cy="530352"/>
                </a:xfrm>
                <a:custGeom>
                  <a:rect b="b" l="l" r="r" t="t"/>
                  <a:pathLst>
                    <a:path extrusionOk="0" h="854" w="5766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Palatino Linotype"/>
                    <a:ea typeface="Palatino Linotype"/>
                    <a:cs typeface="Palatino Linotype"/>
                    <a:sym typeface="Palatino Linotype"/>
                  </a:endParaRPr>
                </a:p>
              </p:txBody>
            </p:sp>
          </p:grpSp>
        </p:grpSp>
      </p:grpSp>
      <p:sp>
        <p:nvSpPr>
          <p:cNvPr id="133" name="Google Shape;133;p13"/>
          <p:cNvSpPr txBox="1"/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Century Gothic"/>
              <a:buNone/>
              <a:defRPr b="0" i="0" sz="3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457200" y="145161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925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626A19"/>
              </a:buClr>
              <a:buSzPts val="19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indent="-32385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2A4F1C"/>
              </a:buClr>
              <a:buSzPts val="15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indent="-298450" lvl="2" marL="1371600" marR="0" rtl="0" algn="l">
              <a:spcBef>
                <a:spcPts val="300"/>
              </a:spcBef>
              <a:spcAft>
                <a:spcPts val="0"/>
              </a:spcAft>
              <a:buClr>
                <a:srgbClr val="455C19"/>
              </a:buClr>
              <a:buSzPts val="110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indent="-292100" lvl="3" marL="1828800" marR="0" rtl="0" algn="l">
              <a:spcBef>
                <a:spcPts val="300"/>
              </a:spcBef>
              <a:spcAft>
                <a:spcPts val="0"/>
              </a:spcAft>
              <a:buClr>
                <a:srgbClr val="626A19"/>
              </a:buClr>
              <a:buSzPts val="1000"/>
              <a:buFont typeface="Noto Sans Symbols"/>
              <a:buChar char="⚫"/>
              <a:defRPr b="0" i="0" sz="15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indent="-292100" lvl="4" marL="2286000" marR="0" rtl="0" algn="l">
              <a:spcBef>
                <a:spcPts val="300"/>
              </a:spcBef>
              <a:spcAft>
                <a:spcPts val="0"/>
              </a:spcAft>
              <a:buClr>
                <a:srgbClr val="017058"/>
              </a:buClr>
              <a:buSzPts val="1000"/>
              <a:buFont typeface="Noto Sans Symbols"/>
              <a:buChar char="⚫"/>
              <a:defRPr b="0" i="0" sz="15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indent="-29845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215D65"/>
              </a:buClr>
              <a:buSzPts val="1100"/>
              <a:buFont typeface="Noto Sans Symbols"/>
              <a:buChar char="⚫"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rgbClr val="066684"/>
              </a:buClr>
              <a:buSzPts val="1000"/>
              <a:buFont typeface="Noto Sans Symbols"/>
              <a:buChar char="⚫"/>
              <a:defRPr b="0" i="0" sz="1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indent="-3048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alatino Linotype"/>
              <a:buChar char="•"/>
              <a:defRPr b="0" i="0" sz="1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indent="-2286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Palatino Linotype"/>
              <a:buNone/>
              <a:defRPr b="0" i="0" sz="11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9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Relationship Id="rId8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9.png"/><Relationship Id="rId10" Type="http://schemas.openxmlformats.org/officeDocument/2006/relationships/image" Target="../media/image32.png"/><Relationship Id="rId13" Type="http://schemas.openxmlformats.org/officeDocument/2006/relationships/image" Target="../media/image34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9" Type="http://schemas.openxmlformats.org/officeDocument/2006/relationships/image" Target="../media/image37.png"/><Relationship Id="rId5" Type="http://schemas.openxmlformats.org/officeDocument/2006/relationships/image" Target="../media/image36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42.png"/><Relationship Id="rId13" Type="http://schemas.openxmlformats.org/officeDocument/2006/relationships/image" Target="../media/image48.png"/><Relationship Id="rId12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4.png"/><Relationship Id="rId9" Type="http://schemas.openxmlformats.org/officeDocument/2006/relationships/image" Target="../media/image52.png"/><Relationship Id="rId5" Type="http://schemas.openxmlformats.org/officeDocument/2006/relationships/image" Target="../media/image33.png"/><Relationship Id="rId6" Type="http://schemas.openxmlformats.org/officeDocument/2006/relationships/image" Target="../media/image43.png"/><Relationship Id="rId7" Type="http://schemas.openxmlformats.org/officeDocument/2006/relationships/image" Target="../media/image45.png"/><Relationship Id="rId8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54.png"/><Relationship Id="rId13" Type="http://schemas.openxmlformats.org/officeDocument/2006/relationships/image" Target="../media/image57.png"/><Relationship Id="rId12" Type="http://schemas.openxmlformats.org/officeDocument/2006/relationships/image" Target="../media/image63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44.png"/><Relationship Id="rId9" Type="http://schemas.openxmlformats.org/officeDocument/2006/relationships/image" Target="../media/image53.png"/><Relationship Id="rId5" Type="http://schemas.openxmlformats.org/officeDocument/2006/relationships/image" Target="../media/image33.png"/><Relationship Id="rId6" Type="http://schemas.openxmlformats.org/officeDocument/2006/relationships/image" Target="../media/image47.png"/><Relationship Id="rId7" Type="http://schemas.openxmlformats.org/officeDocument/2006/relationships/image" Target="../media/image50.png"/><Relationship Id="rId8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0.png"/><Relationship Id="rId5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iQJMNWDodifKkp4a9yjC-zToXx_HJQm6/view" TargetMode="External"/><Relationship Id="rId4" Type="http://schemas.openxmlformats.org/officeDocument/2006/relationships/image" Target="../media/image4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cfBQcPODUn5ZeRS0C-PqcYC_E4BwvAET/view" TargetMode="External"/><Relationship Id="rId4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t5K282-uVOvJMKmYObc7RnKcX2Dc26U6/view" TargetMode="External"/><Relationship Id="rId4" Type="http://schemas.openxmlformats.org/officeDocument/2006/relationships/image" Target="../media/image5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4.png"/><Relationship Id="rId4" Type="http://schemas.openxmlformats.org/officeDocument/2006/relationships/image" Target="../media/image59.png"/><Relationship Id="rId5" Type="http://schemas.openxmlformats.org/officeDocument/2006/relationships/image" Target="../media/image6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6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1.png"/><Relationship Id="rId4" Type="http://schemas.openxmlformats.org/officeDocument/2006/relationships/image" Target="../media/image79.png"/><Relationship Id="rId5" Type="http://schemas.openxmlformats.org/officeDocument/2006/relationships/image" Target="../media/image7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1.png"/><Relationship Id="rId4" Type="http://schemas.openxmlformats.org/officeDocument/2006/relationships/image" Target="../media/image74.png"/><Relationship Id="rId5" Type="http://schemas.openxmlformats.org/officeDocument/2006/relationships/image" Target="../media/image7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1.png"/><Relationship Id="rId4" Type="http://schemas.openxmlformats.org/officeDocument/2006/relationships/image" Target="../media/image81.png"/><Relationship Id="rId5" Type="http://schemas.openxmlformats.org/officeDocument/2006/relationships/image" Target="../media/image6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6.png"/><Relationship Id="rId4" Type="http://schemas.openxmlformats.org/officeDocument/2006/relationships/image" Target="../media/image72.png"/><Relationship Id="rId5" Type="http://schemas.openxmlformats.org/officeDocument/2006/relationships/image" Target="../media/image75.png"/><Relationship Id="rId6" Type="http://schemas.openxmlformats.org/officeDocument/2006/relationships/image" Target="../media/image71.png"/><Relationship Id="rId7" Type="http://schemas.openxmlformats.org/officeDocument/2006/relationships/image" Target="../media/image68.png"/><Relationship Id="rId8" Type="http://schemas.openxmlformats.org/officeDocument/2006/relationships/image" Target="../media/image7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7.png"/><Relationship Id="rId4" Type="http://schemas.openxmlformats.org/officeDocument/2006/relationships/image" Target="../media/image80.png"/><Relationship Id="rId5" Type="http://schemas.openxmlformats.org/officeDocument/2006/relationships/image" Target="../media/image78.png"/><Relationship Id="rId6" Type="http://schemas.openxmlformats.org/officeDocument/2006/relationships/image" Target="../media/image82.png"/><Relationship Id="rId7" Type="http://schemas.openxmlformats.org/officeDocument/2006/relationships/image" Target="../media/image92.png"/><Relationship Id="rId8" Type="http://schemas.openxmlformats.org/officeDocument/2006/relationships/image" Target="../media/image8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8.png"/><Relationship Id="rId4" Type="http://schemas.openxmlformats.org/officeDocument/2006/relationships/image" Target="../media/image87.png"/><Relationship Id="rId5" Type="http://schemas.openxmlformats.org/officeDocument/2006/relationships/image" Target="../media/image6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3.png"/><Relationship Id="rId4" Type="http://schemas.openxmlformats.org/officeDocument/2006/relationships/image" Target="../media/image86.png"/><Relationship Id="rId5" Type="http://schemas.openxmlformats.org/officeDocument/2006/relationships/image" Target="../media/image6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5.png"/><Relationship Id="rId4" Type="http://schemas.openxmlformats.org/officeDocument/2006/relationships/image" Target="../media/image95.png"/><Relationship Id="rId5" Type="http://schemas.openxmlformats.org/officeDocument/2006/relationships/image" Target="../media/image6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4.png"/><Relationship Id="rId7" Type="http://schemas.openxmlformats.org/officeDocument/2006/relationships/image" Target="../media/image6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type="ctrTitle"/>
          </p:nvPr>
        </p:nvSpPr>
        <p:spPr>
          <a:xfrm>
            <a:off x="153617" y="1158003"/>
            <a:ext cx="78516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3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Gothic"/>
              <a:buNone/>
            </a:pPr>
            <a:r>
              <a:rPr lang="pl" sz="3000"/>
              <a:t>Kondensat Bosego-Einsteina - </a:t>
            </a:r>
            <a:r>
              <a:rPr lang="pl" sz="3000"/>
              <a:t>ultrazimny</a:t>
            </a:r>
            <a:r>
              <a:rPr lang="pl" sz="3000"/>
              <a:t> gaz kwantowy</a:t>
            </a:r>
            <a:endParaRPr/>
          </a:p>
        </p:txBody>
      </p:sp>
      <p:sp>
        <p:nvSpPr>
          <p:cNvPr id="222" name="Google Shape;222;p25"/>
          <p:cNvSpPr txBox="1"/>
          <p:nvPr>
            <p:ph idx="1" type="subTitle"/>
          </p:nvPr>
        </p:nvSpPr>
        <p:spPr>
          <a:xfrm>
            <a:off x="846850" y="2571751"/>
            <a:ext cx="78546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13700" wrap="square" tIns="34275">
            <a:normAutofit fontScale="7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pl"/>
              <a:t>Tymoteusz Prostak</a:t>
            </a:r>
            <a:endParaRPr/>
          </a:p>
          <a:p>
            <a:pPr indent="0" lvl="0" marL="0" rtl="0" algn="r"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rPr lang="pl"/>
              <a:t>Bolko Wieleba </a:t>
            </a:r>
            <a:endParaRPr/>
          </a:p>
          <a:p>
            <a:pPr indent="457200" lvl="0" marL="0" rtl="0" algn="ctr"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rPr lang="pl"/>
              <a:t>		                                       opiekunowie: mgr. Michał Suchorowski				     </a:t>
            </a:r>
            <a:r>
              <a:rPr lang="pl"/>
              <a:t>                          mgr. Agata Wojciechowska, </a:t>
            </a:r>
            <a:r>
              <a:rPr lang="pl"/>
              <a:t>prof. Michał Tomza</a:t>
            </a:r>
            <a:endParaRPr/>
          </a:p>
          <a:p>
            <a:pPr indent="0" lvl="0" marL="0" rtl="0" algn="r"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223" name="Google Shape;22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687605"/>
            <a:ext cx="2675965" cy="84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2019" y="3687600"/>
            <a:ext cx="2155306" cy="84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3" y="26894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entury Gothic"/>
              <a:buNone/>
            </a:pPr>
            <a:r>
              <a:rPr lang="pl" sz="2800"/>
              <a:t>Kondensat Bosego-Einsteina-wstęp teoretyczny </a:t>
            </a:r>
            <a:endParaRPr sz="2800"/>
          </a:p>
        </p:txBody>
      </p:sp>
      <p:pic>
        <p:nvPicPr>
          <p:cNvPr id="230" name="Google Shape;23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6"/>
          <p:cNvSpPr txBox="1"/>
          <p:nvPr/>
        </p:nvSpPr>
        <p:spPr>
          <a:xfrm>
            <a:off x="188350" y="1432325"/>
            <a:ext cx="4584600" cy="3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latino Linotype"/>
              <a:buChar char="-"/>
            </a:pPr>
            <a:r>
              <a:rPr lang="pl" sz="2000">
                <a:latin typeface="Palatino Linotype"/>
                <a:ea typeface="Palatino Linotype"/>
                <a:cs typeface="Palatino Linotype"/>
                <a:sym typeface="Palatino Linotype"/>
              </a:rPr>
              <a:t>gaz kwantowy schłodzony do temp. bliskiej zera </a:t>
            </a:r>
            <a:r>
              <a:rPr lang="pl" sz="2000">
                <a:latin typeface="Palatino Linotype"/>
                <a:ea typeface="Palatino Linotype"/>
                <a:cs typeface="Palatino Linotype"/>
                <a:sym typeface="Palatino Linotype"/>
              </a:rPr>
              <a:t>bezwzględnego</a:t>
            </a:r>
            <a:endParaRPr sz="2000"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latino Linotype"/>
              <a:buChar char="-"/>
            </a:pPr>
            <a:r>
              <a:rPr lang="pl" sz="2000">
                <a:latin typeface="Palatino Linotype"/>
                <a:ea typeface="Palatino Linotype"/>
                <a:cs typeface="Palatino Linotype"/>
                <a:sym typeface="Palatino Linotype"/>
              </a:rPr>
              <a:t>złożony z bozonów</a:t>
            </a:r>
            <a:endParaRPr sz="2000"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latino Linotype"/>
              <a:buChar char="-"/>
            </a:pPr>
            <a:r>
              <a:rPr lang="pl" sz="2000">
                <a:latin typeface="Palatino Linotype"/>
                <a:ea typeface="Palatino Linotype"/>
                <a:cs typeface="Palatino Linotype"/>
                <a:sym typeface="Palatino Linotype"/>
              </a:rPr>
              <a:t>bardzo mała gęstość </a:t>
            </a:r>
            <a:endParaRPr sz="2000"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latino Linotype"/>
              <a:buChar char="-"/>
            </a:pPr>
            <a:r>
              <a:rPr lang="pl" sz="2000">
                <a:latin typeface="Palatino Linotype"/>
                <a:ea typeface="Palatino Linotype"/>
                <a:cs typeface="Palatino Linotype"/>
                <a:sym typeface="Palatino Linotype"/>
              </a:rPr>
              <a:t>w przybliżeniu </a:t>
            </a:r>
            <a:r>
              <a:rPr lang="pl" sz="2000">
                <a:latin typeface="Palatino Linotype"/>
                <a:ea typeface="Palatino Linotype"/>
                <a:cs typeface="Palatino Linotype"/>
                <a:sym typeface="Palatino Linotype"/>
              </a:rPr>
              <a:t>wszystkie</a:t>
            </a:r>
            <a:r>
              <a:rPr lang="pl" sz="2000">
                <a:latin typeface="Palatino Linotype"/>
                <a:ea typeface="Palatino Linotype"/>
                <a:cs typeface="Palatino Linotype"/>
                <a:sym typeface="Palatino Linotype"/>
              </a:rPr>
              <a:t> cząsteczki gazu okupują ten sam stan kwantowy</a:t>
            </a:r>
            <a:endParaRPr sz="2000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32" name="Google Shape;23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7477" y="1432324"/>
            <a:ext cx="3871748" cy="25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6"/>
          <p:cNvSpPr txBox="1"/>
          <p:nvPr/>
        </p:nvSpPr>
        <p:spPr>
          <a:xfrm>
            <a:off x="5176625" y="4231950"/>
            <a:ext cx="36627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62626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Credit: </a:t>
            </a:r>
            <a:r>
              <a:rPr lang="pl" sz="1050">
                <a:solidFill>
                  <a:srgbClr val="3C404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NIST/JILA/CU-Boulder</a:t>
            </a:r>
            <a:endParaRPr sz="1500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>
            <p:ph type="title"/>
          </p:nvPr>
        </p:nvSpPr>
        <p:spPr>
          <a:xfrm>
            <a:off x="279850" y="795675"/>
            <a:ext cx="8694600" cy="644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Gothic"/>
              <a:buNone/>
            </a:pPr>
            <a:r>
              <a:rPr lang="pl" sz="2800"/>
              <a:t>Kondensat Bosego-Einsteina - wstęp teoretyczny</a:t>
            </a:r>
            <a:endParaRPr sz="2800"/>
          </a:p>
        </p:txBody>
      </p:sp>
      <p:sp>
        <p:nvSpPr>
          <p:cNvPr id="239" name="Google Shape;239;p27"/>
          <p:cNvSpPr txBox="1"/>
          <p:nvPr>
            <p:ph idx="1" type="body"/>
          </p:nvPr>
        </p:nvSpPr>
        <p:spPr>
          <a:xfrm>
            <a:off x="457200" y="1697547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300"/>
              </a:spcBef>
              <a:spcAft>
                <a:spcPts val="0"/>
              </a:spcAft>
              <a:buSzPts val="1800"/>
              <a:buChar char="-"/>
            </a:pPr>
            <a:r>
              <a:rPr lang="pl" sz="1800"/>
              <a:t>funkcja falowa gazu:</a:t>
            </a:r>
            <a:endParaRPr sz="1800"/>
          </a:p>
        </p:txBody>
      </p:sp>
      <p:pic>
        <p:nvPicPr>
          <p:cNvPr id="240" name="Google Shape;2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00" y="2168875"/>
            <a:ext cx="4626275" cy="55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700" y="3516250"/>
            <a:ext cx="4735324" cy="48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7"/>
          <p:cNvSpPr txBox="1"/>
          <p:nvPr/>
        </p:nvSpPr>
        <p:spPr>
          <a:xfrm>
            <a:off x="457200" y="2724500"/>
            <a:ext cx="85173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alatino Linotype"/>
              <a:buChar char="-"/>
            </a:pPr>
            <a:r>
              <a:rPr lang="pl" sz="1800">
                <a:latin typeface="Palatino Linotype"/>
                <a:ea typeface="Palatino Linotype"/>
                <a:cs typeface="Palatino Linotype"/>
                <a:sym typeface="Palatino Linotype"/>
              </a:rPr>
              <a:t>równanie Grossa-Pitajewskiego - równanie funkcji falowej kondensatu</a:t>
            </a:r>
            <a:endParaRPr sz="1800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43" name="Google Shape;24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 txBox="1"/>
          <p:nvPr>
            <p:ph type="title"/>
          </p:nvPr>
        </p:nvSpPr>
        <p:spPr>
          <a:xfrm>
            <a:off x="457200" y="600516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3020"/>
              <a:t>schemat </a:t>
            </a:r>
            <a:r>
              <a:rPr lang="pl" sz="3020"/>
              <a:t>numeryczny - stan podstawowy</a:t>
            </a:r>
            <a:endParaRPr sz="3020"/>
          </a:p>
        </p:txBody>
      </p:sp>
      <p:sp>
        <p:nvSpPr>
          <p:cNvPr id="249" name="Google Shape;249;p28"/>
          <p:cNvSpPr txBox="1"/>
          <p:nvPr>
            <p:ph idx="1" type="body"/>
          </p:nvPr>
        </p:nvSpPr>
        <p:spPr>
          <a:xfrm>
            <a:off x="457200" y="1741385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równanie </a:t>
            </a:r>
            <a:r>
              <a:rPr lang="pl"/>
              <a:t>Schrodingera</a:t>
            </a:r>
            <a:r>
              <a:rPr lang="pl"/>
              <a:t> jest rozwiązywane w czasie urojonym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wykorzystany został schemat Eulera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równanie </a:t>
            </a:r>
            <a:r>
              <a:rPr lang="pl"/>
              <a:t>ewolucji</a:t>
            </a:r>
            <a:r>
              <a:rPr lang="pl"/>
              <a:t> jest w bezwymiarowej postaci:</a:t>
            </a:r>
            <a:endParaRPr/>
          </a:p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450" y="2863875"/>
            <a:ext cx="6424100" cy="78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8"/>
          <p:cNvSpPr txBox="1"/>
          <p:nvPr/>
        </p:nvSpPr>
        <p:spPr>
          <a:xfrm>
            <a:off x="488475" y="3802250"/>
            <a:ext cx="66960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/>
          <p:nvPr>
            <p:ph type="title"/>
          </p:nvPr>
        </p:nvSpPr>
        <p:spPr>
          <a:xfrm>
            <a:off x="208825" y="258991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cele symulacji</a:t>
            </a:r>
            <a:endParaRPr/>
          </a:p>
        </p:txBody>
      </p:sp>
      <p:sp>
        <p:nvSpPr>
          <p:cNvPr id="258" name="Google Shape;258;p29"/>
          <p:cNvSpPr txBox="1"/>
          <p:nvPr>
            <p:ph idx="1" type="body"/>
          </p:nvPr>
        </p:nvSpPr>
        <p:spPr>
          <a:xfrm>
            <a:off x="208825" y="1116410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zbadanie obecności wirów w </a:t>
            </a:r>
            <a:r>
              <a:rPr lang="pl"/>
              <a:t>różnych</a:t>
            </a:r>
            <a:r>
              <a:rPr lang="pl"/>
              <a:t> potencjałach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zbadanie czy jest możliwość phase-im</a:t>
            </a:r>
            <a:r>
              <a:rPr lang="pl"/>
              <a:t>printingu</a:t>
            </a:r>
            <a:r>
              <a:rPr lang="pl"/>
              <a:t> w </a:t>
            </a:r>
            <a:r>
              <a:rPr lang="pl"/>
              <a:t>kondensacie</a:t>
            </a:r>
            <a:endParaRPr/>
          </a:p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7235" y="217213"/>
            <a:ext cx="1362574" cy="512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50" y="1851600"/>
            <a:ext cx="4389190" cy="32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9350" y="1947562"/>
            <a:ext cx="4133283" cy="309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0"/>
          <p:cNvSpPr txBox="1"/>
          <p:nvPr>
            <p:ph type="title"/>
          </p:nvPr>
        </p:nvSpPr>
        <p:spPr>
          <a:xfrm>
            <a:off x="457200" y="528066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badane potencjały</a:t>
            </a:r>
            <a:endParaRPr/>
          </a:p>
        </p:txBody>
      </p:sp>
      <p:sp>
        <p:nvSpPr>
          <p:cNvPr id="267" name="Google Shape;267;p30"/>
          <p:cNvSpPr txBox="1"/>
          <p:nvPr>
            <p:ph idx="1" type="body"/>
          </p:nvPr>
        </p:nvSpPr>
        <p:spPr>
          <a:xfrm>
            <a:off x="457200" y="1451610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potencjał harmoniczny: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potencjał siatki optycznej:</a:t>
            </a:r>
            <a:endParaRPr/>
          </a:p>
        </p:txBody>
      </p:sp>
      <p:pic>
        <p:nvPicPr>
          <p:cNvPr id="268" name="Google Shape;26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225" y="1451600"/>
            <a:ext cx="3645600" cy="2805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3524" y="1983663"/>
            <a:ext cx="2369806" cy="69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950" y="3420000"/>
            <a:ext cx="4377500" cy="5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 txBox="1"/>
          <p:nvPr>
            <p:ph type="title"/>
          </p:nvPr>
        </p:nvSpPr>
        <p:spPr>
          <a:xfrm>
            <a:off x="416850" y="388050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3020"/>
              <a:t>symulacja w potencjale harmonicznym - zmienna prędkość kątowa (</a:t>
            </a:r>
            <a:r>
              <a:rPr i="1" lang="pl" sz="3020"/>
              <a:t>omega</a:t>
            </a:r>
            <a:r>
              <a:rPr lang="pl" sz="3020"/>
              <a:t>)</a:t>
            </a:r>
            <a:endParaRPr sz="3020"/>
          </a:p>
        </p:txBody>
      </p:sp>
      <p:pic>
        <p:nvPicPr>
          <p:cNvPr id="276" name="Google Shape;27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1"/>
          <p:cNvPicPr preferRelativeResize="0"/>
          <p:nvPr/>
        </p:nvPicPr>
        <p:blipFill rotWithShape="1">
          <a:blip r:embed="rId4">
            <a:alphaModFix/>
          </a:blip>
          <a:srcRect b="4096" l="20763" r="21559" t="7627"/>
          <a:stretch/>
        </p:blipFill>
        <p:spPr>
          <a:xfrm>
            <a:off x="1339975" y="1327049"/>
            <a:ext cx="1776375" cy="181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1"/>
          <p:cNvPicPr preferRelativeResize="0"/>
          <p:nvPr/>
        </p:nvPicPr>
        <p:blipFill rotWithShape="1">
          <a:blip r:embed="rId5">
            <a:alphaModFix/>
          </a:blip>
          <a:srcRect b="5500" l="20808" r="22459" t="9218"/>
          <a:stretch/>
        </p:blipFill>
        <p:spPr>
          <a:xfrm>
            <a:off x="1412075" y="3139675"/>
            <a:ext cx="1704275" cy="170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1"/>
          <p:cNvPicPr preferRelativeResize="0"/>
          <p:nvPr/>
        </p:nvPicPr>
        <p:blipFill rotWithShape="1">
          <a:blip r:embed="rId6">
            <a:alphaModFix/>
          </a:blip>
          <a:srcRect b="5200" l="20473" r="22304" t="10510"/>
          <a:stretch/>
        </p:blipFill>
        <p:spPr>
          <a:xfrm>
            <a:off x="3649750" y="1420125"/>
            <a:ext cx="1768420" cy="173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1"/>
          <p:cNvPicPr preferRelativeResize="0"/>
          <p:nvPr/>
        </p:nvPicPr>
        <p:blipFill rotWithShape="1">
          <a:blip r:embed="rId7">
            <a:alphaModFix/>
          </a:blip>
          <a:srcRect b="5151" l="20590" r="21812" t="8997"/>
          <a:stretch/>
        </p:blipFill>
        <p:spPr>
          <a:xfrm>
            <a:off x="3697975" y="3065065"/>
            <a:ext cx="1776375" cy="1765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1"/>
          <p:cNvPicPr preferRelativeResize="0"/>
          <p:nvPr/>
        </p:nvPicPr>
        <p:blipFill rotWithShape="1">
          <a:blip r:embed="rId8">
            <a:alphaModFix/>
          </a:blip>
          <a:srcRect b="4962" l="20996" r="22833" t="8874"/>
          <a:stretch/>
        </p:blipFill>
        <p:spPr>
          <a:xfrm>
            <a:off x="5941675" y="1420113"/>
            <a:ext cx="1628075" cy="1664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1"/>
          <p:cNvPicPr preferRelativeResize="0"/>
          <p:nvPr/>
        </p:nvPicPr>
        <p:blipFill rotWithShape="1">
          <a:blip r:embed="rId9">
            <a:alphaModFix/>
          </a:blip>
          <a:srcRect b="5267" l="20802" r="22668" t="10719"/>
          <a:stretch/>
        </p:blipFill>
        <p:spPr>
          <a:xfrm>
            <a:off x="5903575" y="3098271"/>
            <a:ext cx="1704275" cy="168835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1"/>
          <p:cNvSpPr txBox="1"/>
          <p:nvPr/>
        </p:nvSpPr>
        <p:spPr>
          <a:xfrm>
            <a:off x="22086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omega = 0.6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84" name="Google Shape;284;p31"/>
          <p:cNvSpPr txBox="1"/>
          <p:nvPr/>
        </p:nvSpPr>
        <p:spPr>
          <a:xfrm>
            <a:off x="39612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omega = 0.8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85" name="Google Shape;285;p31"/>
          <p:cNvSpPr txBox="1"/>
          <p:nvPr/>
        </p:nvSpPr>
        <p:spPr>
          <a:xfrm>
            <a:off x="57138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omega = 1.0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"/>
          <p:cNvSpPr txBox="1"/>
          <p:nvPr>
            <p:ph type="title"/>
          </p:nvPr>
        </p:nvSpPr>
        <p:spPr>
          <a:xfrm>
            <a:off x="444600" y="429000"/>
            <a:ext cx="77997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3020"/>
              <a:t>symulacja w potencjale harmonicznym - zmienna głębokość potencjału (</a:t>
            </a:r>
            <a:r>
              <a:rPr i="1" lang="pl" sz="3020"/>
              <a:t>l</a:t>
            </a:r>
            <a:r>
              <a:rPr lang="pl" sz="3020"/>
              <a:t>)</a:t>
            </a:r>
            <a:endParaRPr sz="3020"/>
          </a:p>
        </p:txBody>
      </p:sp>
      <p:pic>
        <p:nvPicPr>
          <p:cNvPr id="291" name="Google Shape;29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4660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2"/>
          <p:cNvPicPr preferRelativeResize="0"/>
          <p:nvPr/>
        </p:nvPicPr>
        <p:blipFill rotWithShape="1">
          <a:blip r:embed="rId4">
            <a:alphaModFix/>
          </a:blip>
          <a:srcRect b="5832" l="20925" r="22365" t="10246"/>
          <a:stretch/>
        </p:blipFill>
        <p:spPr>
          <a:xfrm>
            <a:off x="1219200" y="1465725"/>
            <a:ext cx="1698150" cy="167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2"/>
          <p:cNvPicPr preferRelativeResize="0"/>
          <p:nvPr/>
        </p:nvPicPr>
        <p:blipFill rotWithShape="1">
          <a:blip r:embed="rId5">
            <a:alphaModFix/>
          </a:blip>
          <a:srcRect b="6248" l="21165" r="22301" t="10660"/>
          <a:stretch/>
        </p:blipFill>
        <p:spPr>
          <a:xfrm>
            <a:off x="1211075" y="3135725"/>
            <a:ext cx="1698150" cy="1663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2"/>
          <p:cNvPicPr preferRelativeResize="0"/>
          <p:nvPr/>
        </p:nvPicPr>
        <p:blipFill rotWithShape="1">
          <a:blip r:embed="rId6">
            <a:alphaModFix/>
          </a:blip>
          <a:srcRect b="6347" l="21054" r="22576" t="10568"/>
          <a:stretch/>
        </p:blipFill>
        <p:spPr>
          <a:xfrm>
            <a:off x="2974200" y="1483917"/>
            <a:ext cx="1645975" cy="1617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2"/>
          <p:cNvPicPr preferRelativeResize="0"/>
          <p:nvPr/>
        </p:nvPicPr>
        <p:blipFill rotWithShape="1">
          <a:blip r:embed="rId7">
            <a:alphaModFix/>
          </a:blip>
          <a:srcRect b="6763" l="21325" r="22301" t="10145"/>
          <a:stretch/>
        </p:blipFill>
        <p:spPr>
          <a:xfrm>
            <a:off x="2922025" y="3090775"/>
            <a:ext cx="1698150" cy="1668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2"/>
          <p:cNvPicPr preferRelativeResize="0"/>
          <p:nvPr/>
        </p:nvPicPr>
        <p:blipFill rotWithShape="1">
          <a:blip r:embed="rId8">
            <a:alphaModFix/>
          </a:blip>
          <a:srcRect b="6523" l="21313" r="22316" t="10156"/>
          <a:stretch/>
        </p:blipFill>
        <p:spPr>
          <a:xfrm>
            <a:off x="4676187" y="1479250"/>
            <a:ext cx="1645963" cy="162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2"/>
          <p:cNvPicPr preferRelativeResize="0"/>
          <p:nvPr/>
        </p:nvPicPr>
        <p:blipFill rotWithShape="1">
          <a:blip r:embed="rId9">
            <a:alphaModFix/>
          </a:blip>
          <a:srcRect b="5632" l="21077" r="22306" t="10425"/>
          <a:stretch/>
        </p:blipFill>
        <p:spPr>
          <a:xfrm>
            <a:off x="4630975" y="3084081"/>
            <a:ext cx="1698150" cy="1678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2"/>
          <p:cNvPicPr preferRelativeResize="0"/>
          <p:nvPr/>
        </p:nvPicPr>
        <p:blipFill rotWithShape="1">
          <a:blip r:embed="rId10">
            <a:alphaModFix/>
          </a:blip>
          <a:srcRect b="5512" l="20341" r="22551" t="10714"/>
          <a:stretch/>
        </p:blipFill>
        <p:spPr>
          <a:xfrm>
            <a:off x="6333550" y="1444196"/>
            <a:ext cx="1698150" cy="1660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2"/>
          <p:cNvPicPr preferRelativeResize="0"/>
          <p:nvPr/>
        </p:nvPicPr>
        <p:blipFill rotWithShape="1">
          <a:blip r:embed="rId11">
            <a:alphaModFix/>
          </a:blip>
          <a:srcRect b="5409" l="20998" r="22001" t="10337"/>
          <a:stretch/>
        </p:blipFill>
        <p:spPr>
          <a:xfrm>
            <a:off x="6338050" y="3086600"/>
            <a:ext cx="1698150" cy="167337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2"/>
          <p:cNvSpPr txBox="1"/>
          <p:nvPr/>
        </p:nvSpPr>
        <p:spPr>
          <a:xfrm>
            <a:off x="18276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l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0.0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35040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l = 0.6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02" name="Google Shape;302;p32"/>
          <p:cNvSpPr txBox="1"/>
          <p:nvPr/>
        </p:nvSpPr>
        <p:spPr>
          <a:xfrm>
            <a:off x="52566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l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1.2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03" name="Google Shape;303;p32"/>
          <p:cNvSpPr txBox="1"/>
          <p:nvPr/>
        </p:nvSpPr>
        <p:spPr>
          <a:xfrm>
            <a:off x="69330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l = 2.4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"/>
          <p:cNvSpPr txBox="1"/>
          <p:nvPr>
            <p:ph type="title"/>
          </p:nvPr>
        </p:nvSpPr>
        <p:spPr>
          <a:xfrm>
            <a:off x="40350" y="475575"/>
            <a:ext cx="91035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pl" sz="3000"/>
              <a:t>symulacja w potencjale harmonicznym - zmienny iloczyn liczby cząstek i oddziaływań (</a:t>
            </a:r>
            <a:r>
              <a:rPr i="1" lang="pl" sz="3000"/>
              <a:t>beta</a:t>
            </a:r>
            <a:r>
              <a:rPr lang="pl" sz="3000"/>
              <a:t>)</a:t>
            </a:r>
            <a:endParaRPr sz="3000"/>
          </a:p>
        </p:txBody>
      </p:sp>
      <p:pic>
        <p:nvPicPr>
          <p:cNvPr id="309" name="Google Shape;3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3"/>
          <p:cNvSpPr txBox="1"/>
          <p:nvPr/>
        </p:nvSpPr>
        <p:spPr>
          <a:xfrm>
            <a:off x="7608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beta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0.0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11" name="Google Shape;311;p33"/>
          <p:cNvSpPr txBox="1"/>
          <p:nvPr/>
        </p:nvSpPr>
        <p:spPr>
          <a:xfrm>
            <a:off x="43422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beta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100.0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12" name="Google Shape;312;p33"/>
          <p:cNvSpPr txBox="1"/>
          <p:nvPr/>
        </p:nvSpPr>
        <p:spPr>
          <a:xfrm>
            <a:off x="60186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beta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300.0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13" name="Google Shape;313;p33"/>
          <p:cNvSpPr txBox="1"/>
          <p:nvPr/>
        </p:nvSpPr>
        <p:spPr>
          <a:xfrm>
            <a:off x="76188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beta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4500.0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314" name="Google Shape;314;p33"/>
          <p:cNvPicPr preferRelativeResize="0"/>
          <p:nvPr/>
        </p:nvPicPr>
        <p:blipFill rotWithShape="1">
          <a:blip r:embed="rId4">
            <a:alphaModFix/>
          </a:blip>
          <a:srcRect b="6728" l="21565" r="22795" t="10912"/>
          <a:stretch/>
        </p:blipFill>
        <p:spPr>
          <a:xfrm>
            <a:off x="348300" y="1429241"/>
            <a:ext cx="1660926" cy="163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3"/>
          <p:cNvPicPr preferRelativeResize="0"/>
          <p:nvPr/>
        </p:nvPicPr>
        <p:blipFill rotWithShape="1">
          <a:blip r:embed="rId5">
            <a:alphaModFix/>
          </a:blip>
          <a:srcRect b="6612" l="21816" r="22544" t="11035"/>
          <a:stretch/>
        </p:blipFill>
        <p:spPr>
          <a:xfrm>
            <a:off x="324025" y="3124225"/>
            <a:ext cx="1685200" cy="166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3"/>
          <p:cNvPicPr preferRelativeResize="0"/>
          <p:nvPr/>
        </p:nvPicPr>
        <p:blipFill rotWithShape="1">
          <a:blip r:embed="rId6">
            <a:alphaModFix/>
          </a:blip>
          <a:srcRect b="5639" l="20807" r="22573" t="10692"/>
          <a:stretch/>
        </p:blipFill>
        <p:spPr>
          <a:xfrm>
            <a:off x="3870125" y="1432943"/>
            <a:ext cx="1716750" cy="1691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3"/>
          <p:cNvPicPr preferRelativeResize="0"/>
          <p:nvPr/>
        </p:nvPicPr>
        <p:blipFill rotWithShape="1">
          <a:blip r:embed="rId7">
            <a:alphaModFix/>
          </a:blip>
          <a:srcRect b="5296" l="21328" r="22052" t="11035"/>
          <a:stretch/>
        </p:blipFill>
        <p:spPr>
          <a:xfrm>
            <a:off x="3946325" y="3132916"/>
            <a:ext cx="1660926" cy="1636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3"/>
          <p:cNvPicPr preferRelativeResize="0"/>
          <p:nvPr/>
        </p:nvPicPr>
        <p:blipFill rotWithShape="1">
          <a:blip r:embed="rId8">
            <a:alphaModFix/>
          </a:blip>
          <a:srcRect b="5879" l="21193" r="21388" t="10835"/>
          <a:stretch/>
        </p:blipFill>
        <p:spPr>
          <a:xfrm>
            <a:off x="5618975" y="1432950"/>
            <a:ext cx="1758030" cy="16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3"/>
          <p:cNvPicPr preferRelativeResize="0"/>
          <p:nvPr/>
        </p:nvPicPr>
        <p:blipFill rotWithShape="1">
          <a:blip r:embed="rId9">
            <a:alphaModFix/>
          </a:blip>
          <a:srcRect b="5519" l="21082" r="22788" t="9956"/>
          <a:stretch/>
        </p:blipFill>
        <p:spPr>
          <a:xfrm>
            <a:off x="5695175" y="3117256"/>
            <a:ext cx="1660926" cy="1667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3"/>
          <p:cNvPicPr preferRelativeResize="0"/>
          <p:nvPr/>
        </p:nvPicPr>
        <p:blipFill rotWithShape="1">
          <a:blip r:embed="rId10">
            <a:alphaModFix/>
          </a:blip>
          <a:srcRect b="5800" l="21009" r="22621" t="9889"/>
          <a:stretch/>
        </p:blipFill>
        <p:spPr>
          <a:xfrm rot="2">
            <a:off x="7300800" y="1408609"/>
            <a:ext cx="1685200" cy="1680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3"/>
          <p:cNvPicPr preferRelativeResize="0"/>
          <p:nvPr/>
        </p:nvPicPr>
        <p:blipFill rotWithShape="1">
          <a:blip r:embed="rId11">
            <a:alphaModFix/>
          </a:blip>
          <a:srcRect b="5431" l="20878" r="22492" t="10746"/>
          <a:stretch/>
        </p:blipFill>
        <p:spPr>
          <a:xfrm>
            <a:off x="7325350" y="3132925"/>
            <a:ext cx="1658089" cy="163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3"/>
          <p:cNvPicPr preferRelativeResize="0"/>
          <p:nvPr/>
        </p:nvPicPr>
        <p:blipFill rotWithShape="1">
          <a:blip r:embed="rId12">
            <a:alphaModFix/>
          </a:blip>
          <a:srcRect b="5144" l="21396" r="22474" t="10659"/>
          <a:stretch/>
        </p:blipFill>
        <p:spPr>
          <a:xfrm>
            <a:off x="2110625" y="1419700"/>
            <a:ext cx="1658100" cy="16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3"/>
          <p:cNvPicPr preferRelativeResize="0"/>
          <p:nvPr/>
        </p:nvPicPr>
        <p:blipFill rotWithShape="1">
          <a:blip r:embed="rId13">
            <a:alphaModFix/>
          </a:blip>
          <a:srcRect b="6005" l="20416" r="22378" t="11274"/>
          <a:stretch/>
        </p:blipFill>
        <p:spPr>
          <a:xfrm>
            <a:off x="2038275" y="3103625"/>
            <a:ext cx="1758025" cy="169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3"/>
          <p:cNvSpPr txBox="1"/>
          <p:nvPr/>
        </p:nvSpPr>
        <p:spPr>
          <a:xfrm>
            <a:off x="24372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beta = 50.0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>
            <p:ph type="title"/>
          </p:nvPr>
        </p:nvSpPr>
        <p:spPr>
          <a:xfrm>
            <a:off x="40350" y="475575"/>
            <a:ext cx="91035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3020"/>
              <a:t>symulacja kondensatu w siatce optycznej - zmienne </a:t>
            </a:r>
            <a:r>
              <a:rPr i="1" lang="pl" sz="3020"/>
              <a:t>V0</a:t>
            </a:r>
            <a:endParaRPr i="1" sz="3000"/>
          </a:p>
        </p:txBody>
      </p:sp>
      <p:pic>
        <p:nvPicPr>
          <p:cNvPr id="330" name="Google Shape;33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4"/>
          <p:cNvSpPr txBox="1"/>
          <p:nvPr/>
        </p:nvSpPr>
        <p:spPr>
          <a:xfrm>
            <a:off x="7608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V0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0.0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32" name="Google Shape;332;p34"/>
          <p:cNvSpPr txBox="1"/>
          <p:nvPr/>
        </p:nvSpPr>
        <p:spPr>
          <a:xfrm>
            <a:off x="43422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V0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3.0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33" name="Google Shape;333;p34"/>
          <p:cNvSpPr txBox="1"/>
          <p:nvPr/>
        </p:nvSpPr>
        <p:spPr>
          <a:xfrm>
            <a:off x="60186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V0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5.0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34" name="Google Shape;334;p34"/>
          <p:cNvSpPr txBox="1"/>
          <p:nvPr/>
        </p:nvSpPr>
        <p:spPr>
          <a:xfrm>
            <a:off x="76188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V0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20.0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35" name="Google Shape;335;p34"/>
          <p:cNvSpPr txBox="1"/>
          <p:nvPr/>
        </p:nvSpPr>
        <p:spPr>
          <a:xfrm>
            <a:off x="24372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V0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1.0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336" name="Google Shape;336;p34"/>
          <p:cNvPicPr preferRelativeResize="0"/>
          <p:nvPr/>
        </p:nvPicPr>
        <p:blipFill rotWithShape="1">
          <a:blip r:embed="rId4">
            <a:alphaModFix/>
          </a:blip>
          <a:srcRect b="6012" l="21542" r="22821" t="11054"/>
          <a:stretch/>
        </p:blipFill>
        <p:spPr>
          <a:xfrm>
            <a:off x="388875" y="1507550"/>
            <a:ext cx="1664050" cy="165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4"/>
          <p:cNvPicPr preferRelativeResize="0"/>
          <p:nvPr/>
        </p:nvPicPr>
        <p:blipFill rotWithShape="1">
          <a:blip r:embed="rId5">
            <a:alphaModFix/>
          </a:blip>
          <a:srcRect b="6012" l="21025" r="23335" t="11054"/>
          <a:stretch/>
        </p:blipFill>
        <p:spPr>
          <a:xfrm>
            <a:off x="365350" y="3148475"/>
            <a:ext cx="1687575" cy="16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4"/>
          <p:cNvPicPr preferRelativeResize="0"/>
          <p:nvPr/>
        </p:nvPicPr>
        <p:blipFill rotWithShape="1">
          <a:blip r:embed="rId6">
            <a:alphaModFix/>
          </a:blip>
          <a:srcRect b="5563" l="21221" r="22827" t="9755"/>
          <a:stretch/>
        </p:blipFill>
        <p:spPr>
          <a:xfrm>
            <a:off x="2203700" y="1507550"/>
            <a:ext cx="1626147" cy="164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4"/>
          <p:cNvPicPr preferRelativeResize="0"/>
          <p:nvPr/>
        </p:nvPicPr>
        <p:blipFill rotWithShape="1">
          <a:blip r:embed="rId7">
            <a:alphaModFix/>
          </a:blip>
          <a:srcRect b="5514" l="21323" r="22547" t="10296"/>
          <a:stretch/>
        </p:blipFill>
        <p:spPr>
          <a:xfrm>
            <a:off x="2244500" y="3165250"/>
            <a:ext cx="1585350" cy="158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4"/>
          <p:cNvPicPr preferRelativeResize="0"/>
          <p:nvPr/>
        </p:nvPicPr>
        <p:blipFill rotWithShape="1">
          <a:blip r:embed="rId8">
            <a:alphaModFix/>
          </a:blip>
          <a:srcRect b="6785" l="21648" r="22469" t="9756"/>
          <a:stretch/>
        </p:blipFill>
        <p:spPr>
          <a:xfrm>
            <a:off x="3971875" y="1518501"/>
            <a:ext cx="1626150" cy="161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4"/>
          <p:cNvPicPr preferRelativeResize="0"/>
          <p:nvPr/>
        </p:nvPicPr>
        <p:blipFill rotWithShape="1">
          <a:blip r:embed="rId9">
            <a:alphaModFix/>
          </a:blip>
          <a:srcRect b="6251" l="22055" r="22066" t="10290"/>
          <a:stretch/>
        </p:blipFill>
        <p:spPr>
          <a:xfrm>
            <a:off x="4037050" y="3197765"/>
            <a:ext cx="1585350" cy="1578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4"/>
          <p:cNvPicPr preferRelativeResize="0"/>
          <p:nvPr/>
        </p:nvPicPr>
        <p:blipFill rotWithShape="1">
          <a:blip r:embed="rId10">
            <a:alphaModFix/>
          </a:blip>
          <a:srcRect b="5940" l="21449" r="22165" t="9670"/>
          <a:stretch/>
        </p:blipFill>
        <p:spPr>
          <a:xfrm>
            <a:off x="5661350" y="1500851"/>
            <a:ext cx="1664050" cy="166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4"/>
          <p:cNvPicPr preferRelativeResize="0"/>
          <p:nvPr/>
        </p:nvPicPr>
        <p:blipFill rotWithShape="1">
          <a:blip r:embed="rId11">
            <a:alphaModFix/>
          </a:blip>
          <a:srcRect b="6090" l="21842" r="22521" t="10818"/>
          <a:stretch/>
        </p:blipFill>
        <p:spPr>
          <a:xfrm>
            <a:off x="5731150" y="3177475"/>
            <a:ext cx="1626150" cy="1618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4"/>
          <p:cNvPicPr preferRelativeResize="0"/>
          <p:nvPr/>
        </p:nvPicPr>
        <p:blipFill rotWithShape="1">
          <a:blip r:embed="rId12">
            <a:alphaModFix/>
          </a:blip>
          <a:srcRect b="6230" l="21565" r="22795" t="9580"/>
          <a:stretch/>
        </p:blipFill>
        <p:spPr>
          <a:xfrm>
            <a:off x="7340400" y="1439306"/>
            <a:ext cx="1664050" cy="1678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4"/>
          <p:cNvPicPr preferRelativeResize="0"/>
          <p:nvPr/>
        </p:nvPicPr>
        <p:blipFill rotWithShape="1">
          <a:blip r:embed="rId13">
            <a:alphaModFix/>
          </a:blip>
          <a:srcRect b="5320" l="21571" r="22789" t="10489"/>
          <a:stretch/>
        </p:blipFill>
        <p:spPr>
          <a:xfrm>
            <a:off x="7372325" y="3164614"/>
            <a:ext cx="1626150" cy="1640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type="title"/>
          </p:nvPr>
        </p:nvSpPr>
        <p:spPr>
          <a:xfrm>
            <a:off x="40350" y="475575"/>
            <a:ext cx="91035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3020"/>
              <a:t>symulacja kondensatu w siatce optycznej - zmienne </a:t>
            </a:r>
            <a:r>
              <a:rPr i="1" lang="pl" sz="3020"/>
              <a:t>kappa</a:t>
            </a:r>
            <a:endParaRPr i="1" sz="3000"/>
          </a:p>
        </p:txBody>
      </p:sp>
      <p:pic>
        <p:nvPicPr>
          <p:cNvPr id="351" name="Google Shape;35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/>
        </p:nvSpPr>
        <p:spPr>
          <a:xfrm>
            <a:off x="540400" y="4693025"/>
            <a:ext cx="14241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kappa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0.0 * pi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53" name="Google Shape;353;p35"/>
          <p:cNvSpPr txBox="1"/>
          <p:nvPr/>
        </p:nvSpPr>
        <p:spPr>
          <a:xfrm>
            <a:off x="4113625" y="4693025"/>
            <a:ext cx="14760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kappa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0.5 * pi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54" name="Google Shape;354;p35"/>
          <p:cNvSpPr txBox="1"/>
          <p:nvPr/>
        </p:nvSpPr>
        <p:spPr>
          <a:xfrm>
            <a:off x="5790025" y="4693025"/>
            <a:ext cx="14760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kappa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1.0 * pi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55" name="Google Shape;355;p35"/>
          <p:cNvSpPr txBox="1"/>
          <p:nvPr/>
        </p:nvSpPr>
        <p:spPr>
          <a:xfrm>
            <a:off x="7466425" y="4693025"/>
            <a:ext cx="15252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kappa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3.0 * pi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56" name="Google Shape;356;p35"/>
          <p:cNvSpPr txBox="1"/>
          <p:nvPr/>
        </p:nvSpPr>
        <p:spPr>
          <a:xfrm>
            <a:off x="2361025" y="4693025"/>
            <a:ext cx="14760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kappa</a:t>
            </a:r>
            <a:r>
              <a:rPr lang="pl">
                <a:latin typeface="Palatino Linotype"/>
                <a:ea typeface="Palatino Linotype"/>
                <a:cs typeface="Palatino Linotype"/>
                <a:sym typeface="Palatino Linotype"/>
              </a:rPr>
              <a:t> = 0.2 * pi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357" name="Google Shape;357;p35"/>
          <p:cNvPicPr preferRelativeResize="0"/>
          <p:nvPr/>
        </p:nvPicPr>
        <p:blipFill rotWithShape="1">
          <a:blip r:embed="rId4">
            <a:alphaModFix/>
          </a:blip>
          <a:srcRect b="6014" l="21050" r="23067" t="10687"/>
          <a:stretch/>
        </p:blipFill>
        <p:spPr>
          <a:xfrm>
            <a:off x="299775" y="1424425"/>
            <a:ext cx="1764925" cy="17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5"/>
          <p:cNvPicPr preferRelativeResize="0"/>
          <p:nvPr/>
        </p:nvPicPr>
        <p:blipFill rotWithShape="1">
          <a:blip r:embed="rId5">
            <a:alphaModFix/>
          </a:blip>
          <a:srcRect b="6014" l="20534" r="22250" t="10687"/>
          <a:stretch/>
        </p:blipFill>
        <p:spPr>
          <a:xfrm>
            <a:off x="299775" y="3132395"/>
            <a:ext cx="1764925" cy="1713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5"/>
          <p:cNvPicPr preferRelativeResize="0"/>
          <p:nvPr/>
        </p:nvPicPr>
        <p:blipFill rotWithShape="1">
          <a:blip r:embed="rId6">
            <a:alphaModFix/>
          </a:blip>
          <a:srcRect b="4801" l="21159" r="22714" t="10660"/>
          <a:stretch/>
        </p:blipFill>
        <p:spPr>
          <a:xfrm>
            <a:off x="2096625" y="1490776"/>
            <a:ext cx="1706089" cy="171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5"/>
          <p:cNvPicPr preferRelativeResize="0"/>
          <p:nvPr/>
        </p:nvPicPr>
        <p:blipFill rotWithShape="1">
          <a:blip r:embed="rId7">
            <a:alphaModFix/>
          </a:blip>
          <a:srcRect b="6007" l="21524" r="23086" t="10324"/>
          <a:stretch/>
        </p:blipFill>
        <p:spPr>
          <a:xfrm>
            <a:off x="2147801" y="3155687"/>
            <a:ext cx="1654925" cy="1666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5"/>
          <p:cNvPicPr preferRelativeResize="0"/>
          <p:nvPr/>
        </p:nvPicPr>
        <p:blipFill rotWithShape="1">
          <a:blip r:embed="rId8">
            <a:alphaModFix/>
          </a:blip>
          <a:srcRect b="5121" l="21774" r="22832" t="11056"/>
          <a:stretch/>
        </p:blipFill>
        <p:spPr>
          <a:xfrm>
            <a:off x="3913075" y="1426348"/>
            <a:ext cx="1654925" cy="1669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5"/>
          <p:cNvPicPr preferRelativeResize="0"/>
          <p:nvPr/>
        </p:nvPicPr>
        <p:blipFill rotWithShape="1">
          <a:blip r:embed="rId9">
            <a:alphaModFix/>
          </a:blip>
          <a:srcRect b="5951" l="21568" r="23041" t="10226"/>
          <a:stretch/>
        </p:blipFill>
        <p:spPr>
          <a:xfrm>
            <a:off x="3876250" y="3099641"/>
            <a:ext cx="1654925" cy="1669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5"/>
          <p:cNvPicPr preferRelativeResize="0"/>
          <p:nvPr/>
        </p:nvPicPr>
        <p:blipFill rotWithShape="1">
          <a:blip r:embed="rId10">
            <a:alphaModFix/>
          </a:blip>
          <a:srcRect b="6085" l="21209" r="22989" t="10211"/>
          <a:stretch/>
        </p:blipFill>
        <p:spPr>
          <a:xfrm>
            <a:off x="5602150" y="1481075"/>
            <a:ext cx="1614849" cy="161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5"/>
          <p:cNvPicPr preferRelativeResize="0"/>
          <p:nvPr/>
        </p:nvPicPr>
        <p:blipFill rotWithShape="1">
          <a:blip r:embed="rId11">
            <a:alphaModFix/>
          </a:blip>
          <a:srcRect b="6984" l="21326" r="23281" t="11034"/>
          <a:stretch/>
        </p:blipFill>
        <p:spPr>
          <a:xfrm>
            <a:off x="5555300" y="3099650"/>
            <a:ext cx="1614838" cy="159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5"/>
          <p:cNvPicPr preferRelativeResize="0"/>
          <p:nvPr/>
        </p:nvPicPr>
        <p:blipFill rotWithShape="1">
          <a:blip r:embed="rId12">
            <a:alphaModFix/>
          </a:blip>
          <a:srcRect b="6888" l="20687" r="22898" t="10514"/>
          <a:stretch/>
        </p:blipFill>
        <p:spPr>
          <a:xfrm>
            <a:off x="7251150" y="1287673"/>
            <a:ext cx="1764925" cy="1722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5"/>
          <p:cNvPicPr preferRelativeResize="0"/>
          <p:nvPr/>
        </p:nvPicPr>
        <p:blipFill rotWithShape="1">
          <a:blip r:embed="rId13">
            <a:alphaModFix/>
          </a:blip>
          <a:srcRect b="6466" l="21625" r="23025" t="10943"/>
          <a:stretch/>
        </p:blipFill>
        <p:spPr>
          <a:xfrm>
            <a:off x="7266525" y="3073134"/>
            <a:ext cx="1654925" cy="1646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6"/>
          <p:cNvSpPr txBox="1"/>
          <p:nvPr>
            <p:ph type="title"/>
          </p:nvPr>
        </p:nvSpPr>
        <p:spPr>
          <a:xfrm>
            <a:off x="115675" y="264366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/>
              <a:t>ewolucja</a:t>
            </a:r>
            <a:r>
              <a:rPr b="1" lang="pl" sz="3500"/>
              <a:t> w czasie rzeczywistym</a:t>
            </a:r>
            <a:endParaRPr b="1" sz="3500"/>
          </a:p>
        </p:txBody>
      </p:sp>
      <p:sp>
        <p:nvSpPr>
          <p:cNvPr id="372" name="Google Shape;372;p36"/>
          <p:cNvSpPr txBox="1"/>
          <p:nvPr>
            <p:ph idx="1" type="body"/>
          </p:nvPr>
        </p:nvSpPr>
        <p:spPr>
          <a:xfrm>
            <a:off x="74525" y="1354485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04800" lvl="0" marL="457200" rtl="0" algn="l">
              <a:spcBef>
                <a:spcPts val="300"/>
              </a:spcBef>
              <a:spcAft>
                <a:spcPts val="0"/>
              </a:spcAft>
              <a:buSzPts val="1200"/>
              <a:buFont typeface="Arial"/>
              <a:buChar char="-"/>
            </a:pPr>
            <a:r>
              <a:rPr lang="pl" sz="1900">
                <a:latin typeface="Arial"/>
                <a:ea typeface="Arial"/>
                <a:cs typeface="Arial"/>
                <a:sym typeface="Arial"/>
              </a:rPr>
              <a:t>wyłączenie</a:t>
            </a:r>
            <a:r>
              <a:rPr lang="pl" sz="1900">
                <a:latin typeface="Arial"/>
                <a:ea typeface="Arial"/>
                <a:cs typeface="Arial"/>
                <a:sym typeface="Arial"/>
              </a:rPr>
              <a:t> siatki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-"/>
            </a:pPr>
            <a:r>
              <a:rPr lang="pl" sz="1900">
                <a:latin typeface="Arial"/>
                <a:ea typeface="Arial"/>
                <a:cs typeface="Arial"/>
                <a:sym typeface="Arial"/>
              </a:rPr>
              <a:t>omega = 0.75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-"/>
            </a:pPr>
            <a:r>
              <a:rPr lang="pl" sz="1900">
                <a:latin typeface="Arial"/>
                <a:ea typeface="Arial"/>
                <a:cs typeface="Arial"/>
                <a:sym typeface="Arial"/>
              </a:rPr>
              <a:t>5000 iteracji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-"/>
            </a:pPr>
            <a:r>
              <a:rPr lang="pl" sz="1900">
                <a:latin typeface="Arial"/>
                <a:ea typeface="Arial"/>
                <a:cs typeface="Arial"/>
                <a:sym typeface="Arial"/>
              </a:rPr>
              <a:t>badanie </a:t>
            </a:r>
            <a:r>
              <a:rPr lang="pl" sz="1900">
                <a:latin typeface="Arial"/>
                <a:ea typeface="Arial"/>
                <a:cs typeface="Arial"/>
                <a:sym typeface="Arial"/>
              </a:rPr>
              <a:t>struktury wirów po ewolucji 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3" name="Google Shape;37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150" y="2617725"/>
            <a:ext cx="25717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041" y="2617725"/>
            <a:ext cx="2663784" cy="261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 txBox="1"/>
          <p:nvPr>
            <p:ph type="title"/>
          </p:nvPr>
        </p:nvSpPr>
        <p:spPr>
          <a:xfrm>
            <a:off x="539175" y="508266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220"/>
              <a:t>ewolucja</a:t>
            </a:r>
            <a:r>
              <a:rPr b="1" lang="pl" sz="3220"/>
              <a:t> - bez potencjału harmonicznego</a:t>
            </a:r>
            <a:endParaRPr b="1" sz="3220"/>
          </a:p>
        </p:txBody>
      </p:sp>
      <p:sp>
        <p:nvSpPr>
          <p:cNvPr id="381" name="Google Shape;381;p37"/>
          <p:cNvSpPr txBox="1"/>
          <p:nvPr>
            <p:ph idx="1" type="body"/>
          </p:nvPr>
        </p:nvSpPr>
        <p:spPr>
          <a:xfrm>
            <a:off x="457200" y="1596485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2" name="Google Shape;382;p37" title="rozpadpi3,v0=15.anglepsi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8800" y="1459375"/>
            <a:ext cx="4389200" cy="329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8"/>
          <p:cNvSpPr txBox="1"/>
          <p:nvPr>
            <p:ph type="title"/>
          </p:nvPr>
        </p:nvSpPr>
        <p:spPr>
          <a:xfrm>
            <a:off x="457200" y="528066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8"/>
          <p:cNvSpPr txBox="1"/>
          <p:nvPr>
            <p:ph idx="1" type="body"/>
          </p:nvPr>
        </p:nvSpPr>
        <p:spPr>
          <a:xfrm>
            <a:off x="457200" y="1451610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9" name="Google Shape;389;p38" title="psiewolcuja.abs2psi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85725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9"/>
          <p:cNvSpPr txBox="1"/>
          <p:nvPr>
            <p:ph type="title"/>
          </p:nvPr>
        </p:nvSpPr>
        <p:spPr>
          <a:xfrm>
            <a:off x="457200" y="528066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9"/>
          <p:cNvSpPr txBox="1"/>
          <p:nvPr>
            <p:ph idx="1" type="body"/>
          </p:nvPr>
        </p:nvSpPr>
        <p:spPr>
          <a:xfrm>
            <a:off x="457200" y="1451610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6" name="Google Shape;396;p39" title="psiewolcuja.anglepsi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85725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0"/>
          <p:cNvSpPr txBox="1"/>
          <p:nvPr>
            <p:ph type="title"/>
          </p:nvPr>
        </p:nvSpPr>
        <p:spPr>
          <a:xfrm>
            <a:off x="322675" y="486675"/>
            <a:ext cx="86229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2820"/>
              <a:t>o</a:t>
            </a:r>
            <a:r>
              <a:rPr b="1" lang="pl" sz="2820"/>
              <a:t>mega=0.75, potencjał harmoniczny, beta=500</a:t>
            </a:r>
            <a:endParaRPr b="1" sz="2820"/>
          </a:p>
        </p:txBody>
      </p:sp>
      <p:pic>
        <p:nvPicPr>
          <p:cNvPr id="402" name="Google Shape;40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675" y="1605821"/>
            <a:ext cx="3921549" cy="30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40"/>
          <p:cNvPicPr preferRelativeResize="0"/>
          <p:nvPr/>
        </p:nvPicPr>
        <p:blipFill rotWithShape="1">
          <a:blip r:embed="rId4">
            <a:alphaModFix/>
          </a:blip>
          <a:srcRect b="5659" l="-2639" r="2639" t="-5660"/>
          <a:stretch/>
        </p:blipFill>
        <p:spPr>
          <a:xfrm>
            <a:off x="4650125" y="1605825"/>
            <a:ext cx="3496550" cy="288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3712" y="3"/>
            <a:ext cx="1360288" cy="51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1"/>
          <p:cNvSpPr txBox="1"/>
          <p:nvPr>
            <p:ph type="title"/>
          </p:nvPr>
        </p:nvSpPr>
        <p:spPr>
          <a:xfrm>
            <a:off x="270925" y="290041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2820"/>
              <a:t>o</a:t>
            </a:r>
            <a:r>
              <a:rPr b="1" lang="pl" sz="2820"/>
              <a:t>mega=1,5,kappa=pi/2,Vo=2.5,beta=500</a:t>
            </a:r>
            <a:endParaRPr b="1" sz="2820"/>
          </a:p>
        </p:txBody>
      </p:sp>
      <p:pic>
        <p:nvPicPr>
          <p:cNvPr id="410" name="Google Shape;41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96466"/>
            <a:ext cx="4562226" cy="3494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4625" y="1496475"/>
            <a:ext cx="4399814" cy="349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3712" y="3"/>
            <a:ext cx="1360288" cy="51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2"/>
          <p:cNvSpPr txBox="1"/>
          <p:nvPr>
            <p:ph type="title"/>
          </p:nvPr>
        </p:nvSpPr>
        <p:spPr>
          <a:xfrm>
            <a:off x="270925" y="352150"/>
            <a:ext cx="85590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2420"/>
              <a:t>o</a:t>
            </a:r>
            <a:r>
              <a:rPr b="1" lang="pl" sz="2420"/>
              <a:t>mega=1,5, kappa1=pi, kappa2=pi/6, beta=500, Vo=2.5</a:t>
            </a:r>
            <a:endParaRPr b="1" sz="2420"/>
          </a:p>
        </p:txBody>
      </p:sp>
      <p:pic>
        <p:nvPicPr>
          <p:cNvPr id="418" name="Google Shape;41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3712" y="3"/>
            <a:ext cx="1360288" cy="514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34400"/>
            <a:ext cx="4419599" cy="3546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1055" y="1496500"/>
            <a:ext cx="4520196" cy="332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3"/>
          <p:cNvSpPr txBox="1"/>
          <p:nvPr>
            <p:ph type="title"/>
          </p:nvPr>
        </p:nvSpPr>
        <p:spPr>
          <a:xfrm>
            <a:off x="322675" y="465975"/>
            <a:ext cx="87387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2720"/>
              <a:t>o</a:t>
            </a:r>
            <a:r>
              <a:rPr b="1" lang="pl" sz="2720"/>
              <a:t>mega=0.75, potencjał harmoniczny, betta=2000</a:t>
            </a:r>
            <a:endParaRPr b="1" sz="2720"/>
          </a:p>
        </p:txBody>
      </p:sp>
      <p:pic>
        <p:nvPicPr>
          <p:cNvPr id="426" name="Google Shape;42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3712" y="3"/>
            <a:ext cx="1360288" cy="514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250" y="1465466"/>
            <a:ext cx="4496357" cy="351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0007" y="1475766"/>
            <a:ext cx="4071592" cy="3374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4"/>
          <p:cNvSpPr txBox="1"/>
          <p:nvPr>
            <p:ph type="title"/>
          </p:nvPr>
        </p:nvSpPr>
        <p:spPr>
          <a:xfrm>
            <a:off x="270925" y="290041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2820"/>
              <a:t>o</a:t>
            </a:r>
            <a:r>
              <a:rPr b="1" lang="pl" sz="2820"/>
              <a:t>mega=1,5, kappa=pi/4, Vo=15, betta=200</a:t>
            </a:r>
            <a:endParaRPr b="1" sz="2820"/>
          </a:p>
        </p:txBody>
      </p:sp>
      <p:pic>
        <p:nvPicPr>
          <p:cNvPr id="434" name="Google Shape;43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3712" y="3"/>
            <a:ext cx="1360288" cy="514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921" y="1652875"/>
            <a:ext cx="3973725" cy="308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5075" y="1752900"/>
            <a:ext cx="3849300" cy="29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105450" cy="230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669200"/>
            <a:ext cx="3105450" cy="2279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0025" y="15063"/>
            <a:ext cx="2963950" cy="227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90025" y="2657575"/>
            <a:ext cx="2963950" cy="2161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3975" y="-24037"/>
            <a:ext cx="2963950" cy="2325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09800" y="2619802"/>
            <a:ext cx="2963950" cy="223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0150" y="36325"/>
            <a:ext cx="3057299" cy="2431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3191026" cy="250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0488" y="2571750"/>
            <a:ext cx="2996610" cy="233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1375" y="2529950"/>
            <a:ext cx="3057300" cy="24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91025" y="0"/>
            <a:ext cx="3117325" cy="2504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07125" y="2560675"/>
            <a:ext cx="2934524" cy="233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7"/>
          <p:cNvSpPr txBox="1"/>
          <p:nvPr/>
        </p:nvSpPr>
        <p:spPr>
          <a:xfrm>
            <a:off x="146075" y="608000"/>
            <a:ext cx="3713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300"/>
              <a:t>Moment pędu=</a:t>
            </a:r>
            <a:r>
              <a:rPr lang="pl" sz="2300">
                <a:solidFill>
                  <a:schemeClr val="dk1"/>
                </a:solidFill>
                <a:highlight>
                  <a:srgbClr val="FFFFFF"/>
                </a:highlight>
              </a:rPr>
              <a:t>3.96818334</a:t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62" name="Google Shape;462;p47"/>
          <p:cNvSpPr txBox="1"/>
          <p:nvPr/>
        </p:nvSpPr>
        <p:spPr>
          <a:xfrm>
            <a:off x="4840900" y="607988"/>
            <a:ext cx="38988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300"/>
              <a:t>Moment pędu=</a:t>
            </a:r>
            <a:r>
              <a:rPr lang="pl" sz="2300">
                <a:solidFill>
                  <a:schemeClr val="dk1"/>
                </a:solidFill>
                <a:highlight>
                  <a:srgbClr val="FFFFFF"/>
                </a:highlight>
              </a:rPr>
              <a:t>3.96794831</a:t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463" name="Google Shape;46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592" y="1401050"/>
            <a:ext cx="4415433" cy="318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" y="1424156"/>
            <a:ext cx="4415425" cy="3139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3712" y="3"/>
            <a:ext cx="1360288" cy="51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8"/>
          <p:cNvSpPr txBox="1"/>
          <p:nvPr/>
        </p:nvSpPr>
        <p:spPr>
          <a:xfrm>
            <a:off x="156350" y="523725"/>
            <a:ext cx="3713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300"/>
              <a:t>Moment pędu=</a:t>
            </a:r>
            <a:r>
              <a:rPr lang="pl" sz="2300">
                <a:solidFill>
                  <a:schemeClr val="dk1"/>
                </a:solidFill>
                <a:highlight>
                  <a:srgbClr val="FFFFFF"/>
                </a:highlight>
              </a:rPr>
              <a:t>3.9330411</a:t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71" name="Google Shape;471;p48"/>
          <p:cNvSpPr txBox="1"/>
          <p:nvPr/>
        </p:nvSpPr>
        <p:spPr>
          <a:xfrm>
            <a:off x="4799750" y="523725"/>
            <a:ext cx="38988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300"/>
              <a:t>Moment pędu=</a:t>
            </a:r>
            <a:r>
              <a:rPr lang="pl" sz="2300">
                <a:solidFill>
                  <a:schemeClr val="dk1"/>
                </a:solidFill>
                <a:highlight>
                  <a:srgbClr val="FFFFFF"/>
                </a:highlight>
              </a:rPr>
              <a:t>3.93813069</a:t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472" name="Google Shape;47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899" y="1246800"/>
            <a:ext cx="4303100" cy="323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46800"/>
            <a:ext cx="4536100" cy="341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3712" y="3"/>
            <a:ext cx="1360288" cy="51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9"/>
          <p:cNvSpPr txBox="1"/>
          <p:nvPr/>
        </p:nvSpPr>
        <p:spPr>
          <a:xfrm>
            <a:off x="176925" y="514400"/>
            <a:ext cx="3713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300"/>
              <a:t>Moment pędu=</a:t>
            </a:r>
            <a:r>
              <a:rPr lang="pl" sz="2300">
                <a:solidFill>
                  <a:schemeClr val="dk1"/>
                </a:solidFill>
                <a:highlight>
                  <a:srgbClr val="FFFFFF"/>
                </a:highlight>
              </a:rPr>
              <a:t>3.89684798</a:t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80" name="Google Shape;480;p49"/>
          <p:cNvSpPr txBox="1"/>
          <p:nvPr/>
        </p:nvSpPr>
        <p:spPr>
          <a:xfrm>
            <a:off x="4840900" y="554225"/>
            <a:ext cx="38988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300"/>
              <a:t>Moment pędu=</a:t>
            </a:r>
            <a:r>
              <a:rPr lang="pl" sz="2300">
                <a:solidFill>
                  <a:schemeClr val="dk1"/>
                </a:solidFill>
                <a:highlight>
                  <a:srgbClr val="FFFFFF"/>
                </a:highlight>
              </a:rPr>
              <a:t>3.90599537</a:t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481" name="Google Shape;48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450" y="1344950"/>
            <a:ext cx="4065275" cy="3139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925" y="1380738"/>
            <a:ext cx="4065275" cy="306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3712" y="3"/>
            <a:ext cx="1360288" cy="51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4084" y="2804225"/>
            <a:ext cx="2893766" cy="233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7375" y="417875"/>
            <a:ext cx="2972224" cy="2279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8738" y="392263"/>
            <a:ext cx="2972225" cy="2330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05712" y="2804225"/>
            <a:ext cx="3178301" cy="233927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50"/>
          <p:cNvSpPr txBox="1"/>
          <p:nvPr/>
        </p:nvSpPr>
        <p:spPr>
          <a:xfrm>
            <a:off x="238650" y="508175"/>
            <a:ext cx="9876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93" name="Google Shape;493;p50"/>
          <p:cNvSpPr txBox="1"/>
          <p:nvPr/>
        </p:nvSpPr>
        <p:spPr>
          <a:xfrm>
            <a:off x="0" y="3041875"/>
            <a:ext cx="2355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/>
              <a:t>L= </a:t>
            </a:r>
            <a:r>
              <a:rPr lang="pl" sz="2000">
                <a:solidFill>
                  <a:schemeClr val="dk1"/>
                </a:solidFill>
                <a:highlight>
                  <a:srgbClr val="FFFFFF"/>
                </a:highlight>
              </a:rPr>
              <a:t>3.87762757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94" name="Google Shape;494;p50"/>
          <p:cNvSpPr txBox="1"/>
          <p:nvPr/>
        </p:nvSpPr>
        <p:spPr>
          <a:xfrm>
            <a:off x="94625" y="796225"/>
            <a:ext cx="19134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/>
              <a:t>L=</a:t>
            </a:r>
            <a:r>
              <a:rPr lang="pl" sz="2000">
                <a:solidFill>
                  <a:schemeClr val="dk1"/>
                </a:solidFill>
                <a:highlight>
                  <a:srgbClr val="FFFFFF"/>
                </a:highlight>
              </a:rPr>
              <a:t>2.62539904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495" name="Google Shape;495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90575" y="0"/>
            <a:ext cx="1153425" cy="4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1"/>
          <p:cNvSpPr txBox="1"/>
          <p:nvPr>
            <p:ph type="title"/>
          </p:nvPr>
        </p:nvSpPr>
        <p:spPr>
          <a:xfrm>
            <a:off x="457200" y="528066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947"/>
              <a:buFont typeface="Arial"/>
              <a:buNone/>
            </a:pPr>
            <a:r>
              <a:rPr lang="pl"/>
              <a:t>możliwość</a:t>
            </a:r>
            <a:r>
              <a:rPr lang="pl"/>
              <a:t> phase imprintingu - wnioski</a:t>
            </a:r>
            <a:endParaRPr/>
          </a:p>
        </p:txBody>
      </p:sp>
      <p:sp>
        <p:nvSpPr>
          <p:cNvPr id="501" name="Google Shape;501;p51"/>
          <p:cNvSpPr txBox="1"/>
          <p:nvPr>
            <p:ph idx="1" type="body"/>
          </p:nvPr>
        </p:nvSpPr>
        <p:spPr>
          <a:xfrm>
            <a:off x="457200" y="1451610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zjawisko</a:t>
            </a:r>
            <a:r>
              <a:rPr lang="pl"/>
              <a:t> </a:t>
            </a:r>
            <a:r>
              <a:rPr lang="pl"/>
              <a:t>wystąpiło</a:t>
            </a:r>
            <a:r>
              <a:rPr lang="pl"/>
              <a:t> w </a:t>
            </a:r>
            <a:r>
              <a:rPr lang="pl"/>
              <a:t>zbadanych</a:t>
            </a:r>
            <a:r>
              <a:rPr lang="pl"/>
              <a:t> </a:t>
            </a:r>
            <a:r>
              <a:rPr lang="pl"/>
              <a:t>konfiguracjach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z </a:t>
            </a:r>
            <a:r>
              <a:rPr lang="pl"/>
              <a:t>zbliżonych</a:t>
            </a:r>
            <a:r>
              <a:rPr lang="pl"/>
              <a:t> </a:t>
            </a:r>
            <a:r>
              <a:rPr lang="pl"/>
              <a:t>struktur</a:t>
            </a:r>
            <a:r>
              <a:rPr lang="pl"/>
              <a:t> wirów, </a:t>
            </a:r>
            <a:r>
              <a:rPr lang="pl"/>
              <a:t>ewolucją struktury o podobnej geometrii</a:t>
            </a:r>
            <a:r>
              <a:rPr lang="pl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kąt </a:t>
            </a:r>
            <a:r>
              <a:rPr lang="pl"/>
              <a:t>obrotu</a:t>
            </a:r>
            <a:r>
              <a:rPr lang="pl"/>
              <a:t> struktury jest skojarzony z momentem pędu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geometria </a:t>
            </a:r>
            <a:r>
              <a:rPr lang="pl"/>
              <a:t>struktury</a:t>
            </a:r>
            <a:r>
              <a:rPr lang="pl"/>
              <a:t> zależy od </a:t>
            </a:r>
            <a:r>
              <a:rPr lang="pl"/>
              <a:t>momentu</a:t>
            </a:r>
            <a:r>
              <a:rPr lang="pl"/>
              <a:t> pędu oraz początkowej geometrii </a:t>
            </a:r>
            <a:endParaRPr/>
          </a:p>
        </p:txBody>
      </p:sp>
      <p:pic>
        <p:nvPicPr>
          <p:cNvPr id="502" name="Google Shape;50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0575" y="0"/>
            <a:ext cx="1153425" cy="4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2"/>
          <p:cNvSpPr txBox="1"/>
          <p:nvPr>
            <p:ph type="title"/>
          </p:nvPr>
        </p:nvSpPr>
        <p:spPr>
          <a:xfrm>
            <a:off x="457200" y="528066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Bibliografia</a:t>
            </a:r>
            <a:endParaRPr/>
          </a:p>
        </p:txBody>
      </p:sp>
      <p:sp>
        <p:nvSpPr>
          <p:cNvPr id="508" name="Google Shape;508;p52"/>
          <p:cNvSpPr txBox="1"/>
          <p:nvPr>
            <p:ph idx="1" type="body"/>
          </p:nvPr>
        </p:nvSpPr>
        <p:spPr>
          <a:xfrm>
            <a:off x="457200" y="1451610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l"/>
              <a:t>https://web.mst.edu/~zhangyanz/Papers/Zeng-Zhang-2009.pdf- data dostępu 15.09.2023r.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l"/>
              <a:t>https://www.nature.com/articles/s42254-020-0211-7#citeas- data dostępi 15.09.2023r.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3"/>
          <p:cNvSpPr txBox="1"/>
          <p:nvPr>
            <p:ph type="ctrTitle"/>
          </p:nvPr>
        </p:nvSpPr>
        <p:spPr>
          <a:xfrm>
            <a:off x="-215153" y="1344706"/>
            <a:ext cx="78516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370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entury Gothic"/>
              <a:buNone/>
            </a:pPr>
            <a:r>
              <a:rPr lang="pl"/>
              <a:t>Dziękujemy za uwagę :)</a:t>
            </a:r>
            <a:endParaRPr/>
          </a:p>
        </p:txBody>
      </p:sp>
      <p:sp>
        <p:nvSpPr>
          <p:cNvPr id="514" name="Google Shape;514;p53"/>
          <p:cNvSpPr txBox="1"/>
          <p:nvPr>
            <p:ph idx="1" type="subTitle"/>
          </p:nvPr>
        </p:nvSpPr>
        <p:spPr>
          <a:xfrm>
            <a:off x="533400" y="2421402"/>
            <a:ext cx="7854696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13700" wrap="square" tIns="34275">
            <a:normAutofit/>
          </a:bodyPr>
          <a:lstStyle/>
          <a:p>
            <a:pPr indent="0" lvl="0" marL="0" marR="38100" rtl="0" algn="r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pl"/>
              <a:t> </a:t>
            </a:r>
            <a:endParaRPr/>
          </a:p>
        </p:txBody>
      </p:sp>
      <p:pic>
        <p:nvPicPr>
          <p:cNvPr id="515" name="Google Shape;51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621" y="3343275"/>
            <a:ext cx="2045525" cy="77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5725" y="3258163"/>
            <a:ext cx="2407025" cy="9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ezentacja dotycząca burzy mózgów">
  <a:themeElements>
    <a:clrScheme name="Gree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